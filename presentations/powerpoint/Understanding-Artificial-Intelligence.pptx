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Over the next four slides we will cut through the science fiction and look at what artificial intelligence actually is, how it learns, where it is already working today, and the real limitations that matter. We will close with a short four-question knowledge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most people hear 'artificial intelligence,' they picture talking robots or rogue supercomputers. The reality is much simpler, and a lot more practical. Traditional software works like a strict recipe. A programmer writes every single rule in advance. If the computer hits an unexpected situation, it gets stuck. AI flips that model. Instead of writing rules, we feed the software massive amounts of examples and let it spot the patterns on its own. Show it enough pictures of stop signs, and it learns to recognize one in a blinding storm. It isn't alive, and it isn't conscious. It is advanced pattern recognition at massive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software actually learn without explicit instructions? Think about how a child learns what a dog looks like. You don't give a toddler a biology textbook with fur density formulas. You point at a golden retriever and say 'dog.' You point at a cat and say 'not a dog.' Over time, their brain figures out the common traits. AI trains the exact same way through rapid trial and error. The computer makes a wild guess, checks how far off it was, adjusts its internal dials, and tries again. Run that cycle billions of times across millions of examples, and random guesses turn into sharp predictions. Data is the textbook, and repetition is the teacher. Without good data, the system cannot learn a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AI sounds futuristic, we often miss how much it already runs our daily routines. In healthcare, algorithms scan medical imaging to catch early signs of illness that human eyes might miss during a long shift. In our pockets, it routes our morning commute around sudden accidents, blocks billions of spam emails, and translates languages in real time. Behind the scenes, it manages warehouse inventory, detects credit card fraud before a charge goes through, and writes first drafts of computer code. It is rarely replacing entire human jobs on its own. Instead, it handles heavy, repetitive analysis so people can make faster, better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all its power, artificial intelligence has very real blind spots. First, it does not actually understand meaning. A system can generate a smooth paragraph or flag an image, but it possesses zero common sense. When it makes an error, it rarely flags doubt. It delivers completely false information with absolute confidence. Second, AI mirrors the data we give it. If past hiring records or loan approvals contain human biases, the software absorbs those prejudices and automates them at scale. Garbage in, garbage out. Finally, there is the question of accountability. When a system makes a costly mistake, who takes the blame? AI is an exceptional calculator, not an infallible authority. It requires constant human judgment to verify its work and set its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a moment on each question before revealing the answer. Correct answers: Question 1 is B, Question 2 is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a moment on each question before revealing the answer. Correct answers: Question 3 is C, Question 4 is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1-B, 2-B, 3-C, 4-B. Close by restating the through-line: AI is pattern recognition at scale, it is only as good as its data, it augments human decisions, and it always needs human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B16"/>
        </a:solidFill>
      </p:bgPr>
    </p:bg>
    <p:spTree>
      <p:nvGrpSpPr>
        <p:cNvPr id="1" name=""/>
        <p:cNvGrpSpPr/>
        <p:nvPr/>
      </p:nvGrpSpPr>
      <p:grpSpPr>
        <a:xfrm>
          <a:off x="0" y="0"/>
          <a:ext cx="0" cy="0"/>
          <a:chOff x="0" y="0"/>
          <a:chExt cx="0" cy="0"/>
        </a:xfrm>
      </p:grpSpPr>
      <p:sp>
        <p:nvSpPr>
          <p:cNvPr id="2" name="Shape 0"/>
          <p:cNvSpPr/>
          <p:nvPr/>
        </p:nvSpPr>
        <p:spPr>
          <a:xfrm>
            <a:off x="8321040" y="-1371600"/>
            <a:ext cx="5852160" cy="5852160"/>
          </a:xfrm>
          <a:prstGeom prst="ellipse">
            <a:avLst/>
          </a:prstGeom>
          <a:solidFill>
            <a:srgbClr val="818CF8">
              <a:alpha val="14000"/>
            </a:srgbClr>
          </a:solidFill>
          <a:ln w="12700">
            <a:solidFill>
              <a:srgbClr val="818CF8">
                <a:alpha val="20000"/>
              </a:srgbClr>
            </a:solidFill>
            <a:prstDash val="solid"/>
          </a:ln>
        </p:spPr>
      </p:sp>
      <p:sp>
        <p:nvSpPr>
          <p:cNvPr id="3" name="Shape 1"/>
          <p:cNvSpPr/>
          <p:nvPr/>
        </p:nvSpPr>
        <p:spPr>
          <a:xfrm>
            <a:off x="9692640" y="3383280"/>
            <a:ext cx="4023360" cy="4023360"/>
          </a:xfrm>
          <a:prstGeom prst="ellipse">
            <a:avLst/>
          </a:prstGeom>
          <a:solidFill>
            <a:srgbClr val="5EEAD4">
              <a:alpha val="10000"/>
            </a:srgbClr>
          </a:solidFill>
          <a:ln/>
        </p:spPr>
      </p:sp>
      <p:sp>
        <p:nvSpPr>
          <p:cNvPr id="4" name="Text 2"/>
          <p:cNvSpPr txBox="1"/>
          <p:nvPr/>
        </p:nvSpPr>
        <p:spPr>
          <a:xfrm>
            <a:off x="548640" y="1783080"/>
            <a:ext cx="7315200" cy="292608"/>
          </a:xfrm>
          <a:prstGeom prst="rect">
            <a:avLst/>
          </a:prstGeom>
          <a:noFill/>
          <a:ln/>
        </p:spPr>
        <p:txBody>
          <a:bodyPr wrap="square" lIns="0" tIns="0" rIns="0" bIns="0" rtlCol="0" anchor="ctr"/>
          <a:lstStyle/>
          <a:p>
            <a:pPr indent="0" marL="0">
              <a:buNone/>
            </a:pPr>
            <a:r>
              <a:rPr lang="en-US" sz="1300" b="1" spc="300" kern="0" dirty="0">
                <a:solidFill>
                  <a:srgbClr val="5EEAD4"/>
                </a:solidFill>
                <a:latin typeface="Calibri" pitchFamily="34" charset="0"/>
                <a:ea typeface="Calibri" pitchFamily="34" charset="-122"/>
                <a:cs typeface="Calibri" pitchFamily="34" charset="-120"/>
              </a:rPr>
              <a:t>PRESENTATION</a:t>
            </a:r>
            <a:endParaRPr lang="en-US" sz="1300" dirty="0"/>
          </a:p>
        </p:txBody>
      </p:sp>
      <p:sp>
        <p:nvSpPr>
          <p:cNvPr id="5" name="Text 3"/>
          <p:cNvSpPr txBox="1"/>
          <p:nvPr/>
        </p:nvSpPr>
        <p:spPr>
          <a:xfrm>
            <a:off x="548640" y="2148840"/>
            <a:ext cx="7863840" cy="1828800"/>
          </a:xfrm>
          <a:prstGeom prst="rect">
            <a:avLst/>
          </a:prstGeom>
          <a:noFill/>
          <a:ln/>
        </p:spPr>
        <p:txBody>
          <a:bodyPr wrap="square" lIns="0" tIns="0" rIns="0" bIns="0" rtlCol="0" anchor="ctr"/>
          <a:lstStyle/>
          <a:p>
            <a:pPr indent="0" marL="0">
              <a:lnSpc>
                <a:spcPct val="105000"/>
              </a:lnSpc>
              <a:buNone/>
            </a:pPr>
            <a:r>
              <a:rPr lang="en-US" sz="4400" b="1" dirty="0">
                <a:solidFill>
                  <a:srgbClr val="EEF2FB"/>
                </a:solidFill>
                <a:latin typeface="Arial" pitchFamily="34" charset="0"/>
                <a:ea typeface="Arial" pitchFamily="34" charset="-122"/>
                <a:cs typeface="Arial" pitchFamily="34" charset="-120"/>
              </a:rPr>
              <a:t>Understanding</a:t>
            </a:r>
            <a:endParaRPr lang="en-US" sz="4400" dirty="0"/>
          </a:p>
          <a:p>
            <a:pPr indent="0" marL="0">
              <a:lnSpc>
                <a:spcPct val="105000"/>
              </a:lnSpc>
              <a:buNone/>
            </a:pPr>
            <a:r>
              <a:rPr lang="en-US" sz="4400" b="1" dirty="0">
                <a:solidFill>
                  <a:srgbClr val="EEF2FB"/>
                </a:solidFill>
                <a:latin typeface="Arial" pitchFamily="34" charset="0"/>
                <a:ea typeface="Arial" pitchFamily="34" charset="-122"/>
                <a:cs typeface="Arial" pitchFamily="34" charset="-120"/>
              </a:rPr>
              <a:t>Artificial Intelligence</a:t>
            </a:r>
            <a:endParaRPr lang="en-US" sz="4400" dirty="0"/>
          </a:p>
        </p:txBody>
      </p:sp>
      <p:sp>
        <p:nvSpPr>
          <p:cNvPr id="6" name="Text 4"/>
          <p:cNvSpPr txBox="1"/>
          <p:nvPr/>
        </p:nvSpPr>
        <p:spPr>
          <a:xfrm>
            <a:off x="548640" y="4114800"/>
            <a:ext cx="6949440" cy="731520"/>
          </a:xfrm>
          <a:prstGeom prst="rect">
            <a:avLst/>
          </a:prstGeom>
          <a:noFill/>
          <a:ln/>
        </p:spPr>
        <p:txBody>
          <a:bodyPr wrap="square" lIns="0" tIns="0" rIns="0" bIns="0" rtlCol="0" anchor="ctr"/>
          <a:lstStyle/>
          <a:p>
            <a:pPr indent="0" marL="0">
              <a:lnSpc>
                <a:spcPct val="125000"/>
              </a:lnSpc>
              <a:buNone/>
            </a:pPr>
            <a:r>
              <a:rPr lang="en-US" sz="1700" dirty="0">
                <a:solidFill>
                  <a:srgbClr val="A8B3CC"/>
                </a:solidFill>
                <a:latin typeface="Calibri" pitchFamily="34" charset="0"/>
                <a:ea typeface="Calibri" pitchFamily="34" charset="-122"/>
                <a:cs typeface="Calibri" pitchFamily="34" charset="-120"/>
              </a:rPr>
              <a:t>What it actually is, how it learns, where it already works, and where it genuinely fails.</a:t>
            </a:r>
            <a:endParaRPr lang="en-US" sz="1700" dirty="0"/>
          </a:p>
        </p:txBody>
      </p:sp>
      <p:sp>
        <p:nvSpPr>
          <p:cNvPr id="7" name="Shape 5"/>
          <p:cNvSpPr/>
          <p:nvPr/>
        </p:nvSpPr>
        <p:spPr>
          <a:xfrm>
            <a:off x="548640" y="5074920"/>
            <a:ext cx="2935224" cy="402336"/>
          </a:xfrm>
          <a:prstGeom prst="roundRect">
            <a:avLst>
              <a:gd name="adj" fmla="val 50000"/>
            </a:avLst>
          </a:prstGeom>
          <a:solidFill>
            <a:srgbClr val="121A33"/>
          </a:solidFill>
          <a:ln w="9525">
            <a:solidFill>
              <a:srgbClr val="6B779A">
                <a:alpha val="55000"/>
              </a:srgbClr>
            </a:solidFill>
            <a:prstDash val="solid"/>
          </a:ln>
        </p:spPr>
      </p:sp>
      <p:sp>
        <p:nvSpPr>
          <p:cNvPr id="8" name="Text 6"/>
          <p:cNvSpPr txBox="1"/>
          <p:nvPr/>
        </p:nvSpPr>
        <p:spPr>
          <a:xfrm>
            <a:off x="548640" y="5074920"/>
            <a:ext cx="2935224" cy="402336"/>
          </a:xfrm>
          <a:prstGeom prst="rect">
            <a:avLst/>
          </a:prstGeom>
          <a:noFill/>
          <a:ln/>
        </p:spPr>
        <p:txBody>
          <a:bodyPr wrap="square" lIns="0" tIns="0" rIns="0" bIns="0" rtlCol="0" anchor="ctr"/>
          <a:lstStyle/>
          <a:p>
            <a:pPr algn="ctr" indent="0" marL="0">
              <a:buNone/>
            </a:pPr>
            <a:r>
              <a:rPr lang="en-US" sz="1250" dirty="0">
                <a:solidFill>
                  <a:srgbClr val="A8B3CC"/>
                </a:solidFill>
                <a:latin typeface="Calibri" pitchFamily="34" charset="0"/>
                <a:ea typeface="Calibri" pitchFamily="34" charset="-122"/>
                <a:cs typeface="Calibri" pitchFamily="34" charset="-120"/>
              </a:rPr>
              <a:t>4 content slides</a:t>
            </a:r>
            <a:endParaRPr lang="en-US" sz="1250" dirty="0"/>
          </a:p>
        </p:txBody>
      </p:sp>
      <p:sp>
        <p:nvSpPr>
          <p:cNvPr id="9" name="Shape 7"/>
          <p:cNvSpPr/>
          <p:nvPr/>
        </p:nvSpPr>
        <p:spPr>
          <a:xfrm>
            <a:off x="3685032" y="5074920"/>
            <a:ext cx="3959352" cy="402336"/>
          </a:xfrm>
          <a:prstGeom prst="roundRect">
            <a:avLst>
              <a:gd name="adj" fmla="val 50000"/>
            </a:avLst>
          </a:prstGeom>
          <a:solidFill>
            <a:srgbClr val="121A33"/>
          </a:solidFill>
          <a:ln w="9525">
            <a:solidFill>
              <a:srgbClr val="6B779A">
                <a:alpha val="55000"/>
              </a:srgbClr>
            </a:solidFill>
            <a:prstDash val="solid"/>
          </a:ln>
        </p:spPr>
      </p:sp>
      <p:sp>
        <p:nvSpPr>
          <p:cNvPr id="10" name="Text 8"/>
          <p:cNvSpPr txBox="1"/>
          <p:nvPr/>
        </p:nvSpPr>
        <p:spPr>
          <a:xfrm>
            <a:off x="3685032" y="5074920"/>
            <a:ext cx="3959352" cy="402336"/>
          </a:xfrm>
          <a:prstGeom prst="rect">
            <a:avLst/>
          </a:prstGeom>
          <a:noFill/>
          <a:ln/>
        </p:spPr>
        <p:txBody>
          <a:bodyPr wrap="square" lIns="0" tIns="0" rIns="0" bIns="0" rtlCol="0" anchor="ctr"/>
          <a:lstStyle/>
          <a:p>
            <a:pPr algn="ctr" indent="0" marL="0">
              <a:buNone/>
            </a:pPr>
            <a:r>
              <a:rPr lang="en-US" sz="1250" dirty="0">
                <a:solidFill>
                  <a:srgbClr val="A8B3CC"/>
                </a:solidFill>
                <a:latin typeface="Calibri" pitchFamily="34" charset="0"/>
                <a:ea typeface="Calibri" pitchFamily="34" charset="-122"/>
                <a:cs typeface="Calibri" pitchFamily="34" charset="-120"/>
              </a:rPr>
              <a:t>Speaker script included</a:t>
            </a:r>
            <a:endParaRPr lang="en-US" sz="1250" dirty="0"/>
          </a:p>
        </p:txBody>
      </p:sp>
      <p:sp>
        <p:nvSpPr>
          <p:cNvPr id="11" name="Shape 9"/>
          <p:cNvSpPr/>
          <p:nvPr/>
        </p:nvSpPr>
        <p:spPr>
          <a:xfrm>
            <a:off x="7845552" y="5074920"/>
            <a:ext cx="3520440" cy="402336"/>
          </a:xfrm>
          <a:prstGeom prst="roundRect">
            <a:avLst>
              <a:gd name="adj" fmla="val 50000"/>
            </a:avLst>
          </a:prstGeom>
          <a:solidFill>
            <a:srgbClr val="121A33"/>
          </a:solidFill>
          <a:ln w="9525">
            <a:solidFill>
              <a:srgbClr val="6B779A">
                <a:alpha val="55000"/>
              </a:srgbClr>
            </a:solidFill>
            <a:prstDash val="solid"/>
          </a:ln>
        </p:spPr>
      </p:sp>
      <p:sp>
        <p:nvSpPr>
          <p:cNvPr id="12" name="Text 10"/>
          <p:cNvSpPr txBox="1"/>
          <p:nvPr/>
        </p:nvSpPr>
        <p:spPr>
          <a:xfrm>
            <a:off x="7845552" y="5074920"/>
            <a:ext cx="3520440" cy="402336"/>
          </a:xfrm>
          <a:prstGeom prst="rect">
            <a:avLst/>
          </a:prstGeom>
          <a:noFill/>
          <a:ln/>
        </p:spPr>
        <p:txBody>
          <a:bodyPr wrap="square" lIns="0" tIns="0" rIns="0" bIns="0" rtlCol="0" anchor="ctr"/>
          <a:lstStyle/>
          <a:p>
            <a:pPr algn="ctr" indent="0" marL="0">
              <a:buNone/>
            </a:pPr>
            <a:r>
              <a:rPr lang="en-US" sz="1250" dirty="0">
                <a:solidFill>
                  <a:srgbClr val="A8B3CC"/>
                </a:solidFill>
                <a:latin typeface="Calibri" pitchFamily="34" charset="0"/>
                <a:ea typeface="Calibri" pitchFamily="34" charset="-122"/>
                <a:cs typeface="Calibri" pitchFamily="34" charset="-120"/>
              </a:rPr>
              <a:t>Knowledge check quiz</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B16"/>
        </a:solidFill>
      </p:bgPr>
    </p:bg>
    <p:spTree>
      <p:nvGrpSpPr>
        <p:cNvPr id="1" name=""/>
        <p:cNvGrpSpPr/>
        <p:nvPr/>
      </p:nvGrpSpPr>
      <p:grpSpPr>
        <a:xfrm>
          <a:off x="0" y="0"/>
          <a:ext cx="0" cy="0"/>
          <a:chOff x="0" y="0"/>
          <a:chExt cx="0" cy="0"/>
        </a:xfrm>
      </p:grpSpPr>
      <p:sp>
        <p:nvSpPr>
          <p:cNvPr id="2" name="Text 0"/>
          <p:cNvSpPr txBox="1"/>
          <p:nvPr/>
        </p:nvSpPr>
        <p:spPr>
          <a:xfrm>
            <a:off x="548640" y="420624"/>
            <a:ext cx="11091672" cy="274320"/>
          </a:xfrm>
          <a:prstGeom prst="rect">
            <a:avLst/>
          </a:prstGeom>
          <a:noFill/>
          <a:ln/>
        </p:spPr>
        <p:txBody>
          <a:bodyPr wrap="square" lIns="0" tIns="0" rIns="0" bIns="0" rtlCol="0" anchor="ctr"/>
          <a:lstStyle/>
          <a:p>
            <a:pPr indent="0" marL="0">
              <a:buNone/>
            </a:pPr>
            <a:r>
              <a:rPr lang="en-US" sz="1200" b="1" spc="240" kern="0" dirty="0">
                <a:solidFill>
                  <a:srgbClr val="5EEAD4"/>
                </a:solidFill>
                <a:latin typeface="Calibri" pitchFamily="34" charset="0"/>
                <a:ea typeface="Calibri" pitchFamily="34" charset="-122"/>
                <a:cs typeface="Calibri" pitchFamily="34" charset="-120"/>
              </a:rPr>
              <a:t>SLIDE 1</a:t>
            </a:r>
            <a:endParaRPr lang="en-US" sz="1200" dirty="0"/>
          </a:p>
        </p:txBody>
      </p:sp>
      <p:sp>
        <p:nvSpPr>
          <p:cNvPr id="3" name="Text 1"/>
          <p:cNvSpPr txBox="1"/>
          <p:nvPr/>
        </p:nvSpPr>
        <p:spPr>
          <a:xfrm>
            <a:off x="548640" y="694944"/>
            <a:ext cx="11091672" cy="713232"/>
          </a:xfrm>
          <a:prstGeom prst="rect">
            <a:avLst/>
          </a:prstGeom>
          <a:noFill/>
          <a:ln/>
        </p:spPr>
        <p:txBody>
          <a:bodyPr wrap="square" lIns="0" tIns="0" rIns="0" bIns="0" rtlCol="0" anchor="ctr"/>
          <a:lstStyle/>
          <a:p>
            <a:pPr indent="0" marL="0">
              <a:buNone/>
            </a:pPr>
            <a:r>
              <a:rPr lang="en-US" sz="3400" b="1" dirty="0">
                <a:solidFill>
                  <a:srgbClr val="EEF2FB"/>
                </a:solidFill>
                <a:latin typeface="Arial" pitchFamily="34" charset="0"/>
                <a:ea typeface="Arial" pitchFamily="34" charset="-122"/>
                <a:cs typeface="Arial" pitchFamily="34" charset="-120"/>
              </a:rPr>
              <a:t>What AI Actually Is (and What It Isn't)</a:t>
            </a:r>
            <a:endParaRPr lang="en-US" sz="3400" dirty="0"/>
          </a:p>
        </p:txBody>
      </p:sp>
      <p:sp>
        <p:nvSpPr>
          <p:cNvPr id="4" name="Shape 2"/>
          <p:cNvSpPr/>
          <p:nvPr/>
        </p:nvSpPr>
        <p:spPr>
          <a:xfrm>
            <a:off x="548640" y="1627632"/>
            <a:ext cx="5317236" cy="2121408"/>
          </a:xfrm>
          <a:prstGeom prst="roundRect">
            <a:avLst>
              <a:gd name="adj" fmla="val 5172"/>
            </a:avLst>
          </a:prstGeom>
          <a:solidFill>
            <a:srgbClr val="16112B"/>
          </a:solidFill>
          <a:ln w="9525">
            <a:solidFill>
              <a:srgbClr val="FB7185">
                <a:alpha val="45000"/>
              </a:srgbClr>
            </a:solidFill>
            <a:prstDash val="solid"/>
          </a:ln>
          <a:effectLst>
            <a:outerShdw sx="100000" sy="100000" kx="0" ky="0" algn="bl" rotWithShape="0" blurRad="127000" dist="25400" dir="5400000">
              <a:srgbClr val="000000">
                <a:alpha val="35000"/>
              </a:srgbClr>
            </a:outerShdw>
          </a:effectLst>
        </p:spPr>
      </p:sp>
      <p:sp>
        <p:nvSpPr>
          <p:cNvPr id="5" name="Text 3"/>
          <p:cNvSpPr txBox="1"/>
          <p:nvPr/>
        </p:nvSpPr>
        <p:spPr>
          <a:xfrm>
            <a:off x="804672" y="1828800"/>
            <a:ext cx="4805172" cy="237744"/>
          </a:xfrm>
          <a:prstGeom prst="rect">
            <a:avLst/>
          </a:prstGeom>
          <a:noFill/>
          <a:ln/>
        </p:spPr>
        <p:txBody>
          <a:bodyPr wrap="square" lIns="0" tIns="0" rIns="0" bIns="0" rtlCol="0" anchor="ctr"/>
          <a:lstStyle/>
          <a:p>
            <a:pPr indent="0" marL="0">
              <a:buNone/>
            </a:pPr>
            <a:r>
              <a:rPr lang="en-US" sz="1050" b="1" spc="180" kern="0" dirty="0">
                <a:solidFill>
                  <a:srgbClr val="FB7185"/>
                </a:solidFill>
                <a:latin typeface="Calibri" pitchFamily="34" charset="0"/>
                <a:ea typeface="Calibri" pitchFamily="34" charset="-122"/>
                <a:cs typeface="Calibri" pitchFamily="34" charset="-120"/>
              </a:rPr>
              <a:t>THE COMMON MYTH</a:t>
            </a:r>
            <a:endParaRPr lang="en-US" sz="1050" dirty="0"/>
          </a:p>
        </p:txBody>
      </p:sp>
      <p:sp>
        <p:nvSpPr>
          <p:cNvPr id="6" name="Text 4"/>
          <p:cNvSpPr txBox="1"/>
          <p:nvPr/>
        </p:nvSpPr>
        <p:spPr>
          <a:xfrm>
            <a:off x="804672" y="2084832"/>
            <a:ext cx="4805172" cy="585216"/>
          </a:xfrm>
          <a:prstGeom prst="rect">
            <a:avLst/>
          </a:prstGeom>
          <a:noFill/>
          <a:ln/>
        </p:spPr>
        <p:txBody>
          <a:bodyPr wrap="square" lIns="0" tIns="0" rIns="0" bIns="0" rtlCol="0" anchor="t"/>
          <a:lstStyle/>
          <a:p>
            <a:pPr indent="0" marL="0">
              <a:lnSpc>
                <a:spcPct val="105000"/>
              </a:lnSpc>
              <a:buNone/>
            </a:pPr>
            <a:r>
              <a:rPr lang="en-US" sz="1600" b="1" dirty="0">
                <a:solidFill>
                  <a:srgbClr val="EEF2FB"/>
                </a:solidFill>
                <a:latin typeface="Arial" pitchFamily="34" charset="0"/>
                <a:ea typeface="Arial" pitchFamily="34" charset="-122"/>
                <a:cs typeface="Arial" pitchFamily="34" charset="-120"/>
              </a:rPr>
              <a:t>Sentient machines</a:t>
            </a:r>
            <a:endParaRPr lang="en-US" sz="1600" dirty="0"/>
          </a:p>
        </p:txBody>
      </p:sp>
      <p:sp>
        <p:nvSpPr>
          <p:cNvPr id="7" name="Text 5"/>
          <p:cNvSpPr txBox="1"/>
          <p:nvPr/>
        </p:nvSpPr>
        <p:spPr>
          <a:xfrm>
            <a:off x="804672" y="2688336"/>
            <a:ext cx="4805172" cy="859536"/>
          </a:xfrm>
          <a:prstGeom prst="rect">
            <a:avLst/>
          </a:prstGeom>
          <a:noFill/>
          <a:ln/>
        </p:spPr>
        <p:txBody>
          <a:bodyPr wrap="square" lIns="0" tIns="0" rIns="0" bIns="0" rtlCol="0" anchor="t"/>
          <a:lstStyle/>
          <a:p>
            <a:pPr indent="0" marL="0">
              <a:lnSpc>
                <a:spcPct val="120000"/>
              </a:lnSpc>
              <a:buNone/>
            </a:pPr>
            <a:r>
              <a:rPr lang="en-US" sz="1400" dirty="0">
                <a:solidFill>
                  <a:srgbClr val="A8B3CC"/>
                </a:solidFill>
                <a:latin typeface="Calibri" pitchFamily="34" charset="0"/>
                <a:ea typeface="Calibri" pitchFamily="34" charset="-122"/>
                <a:cs typeface="Calibri" pitchFamily="34" charset="-120"/>
              </a:rPr>
              <a:t>Talking robots and rogue supercomputers. Compelling cinema, but not what is running in production anywhere today.</a:t>
            </a:r>
            <a:endParaRPr lang="en-US" sz="1400" dirty="0"/>
          </a:p>
        </p:txBody>
      </p:sp>
      <p:sp>
        <p:nvSpPr>
          <p:cNvPr id="8" name="Shape 6"/>
          <p:cNvSpPr/>
          <p:nvPr/>
        </p:nvSpPr>
        <p:spPr>
          <a:xfrm>
            <a:off x="6323076" y="1627632"/>
            <a:ext cx="5317236" cy="2121408"/>
          </a:xfrm>
          <a:prstGeom prst="roundRect">
            <a:avLst>
              <a:gd name="adj" fmla="val 5172"/>
            </a:avLst>
          </a:prstGeom>
          <a:solidFill>
            <a:srgbClr val="121A33"/>
          </a:solidFill>
          <a:ln w="9525">
            <a:solidFill>
              <a:srgbClr val="5EEAD4">
                <a:alpha val="45000"/>
              </a:srgbClr>
            </a:solidFill>
            <a:prstDash val="solid"/>
          </a:ln>
          <a:effectLst>
            <a:outerShdw sx="100000" sy="100000" kx="0" ky="0" algn="bl" rotWithShape="0" blurRad="127000" dist="25400" dir="5400000">
              <a:srgbClr val="000000">
                <a:alpha val="35000"/>
              </a:srgbClr>
            </a:outerShdw>
          </a:effectLst>
        </p:spPr>
      </p:sp>
      <p:sp>
        <p:nvSpPr>
          <p:cNvPr id="9" name="Text 7"/>
          <p:cNvSpPr txBox="1"/>
          <p:nvPr/>
        </p:nvSpPr>
        <p:spPr>
          <a:xfrm>
            <a:off x="6579108" y="1828800"/>
            <a:ext cx="4805172" cy="237744"/>
          </a:xfrm>
          <a:prstGeom prst="rect">
            <a:avLst/>
          </a:prstGeom>
          <a:noFill/>
          <a:ln/>
        </p:spPr>
        <p:txBody>
          <a:bodyPr wrap="square" lIns="0" tIns="0" rIns="0" bIns="0" rtlCol="0" anchor="ctr"/>
          <a:lstStyle/>
          <a:p>
            <a:pPr indent="0" marL="0">
              <a:buNone/>
            </a:pPr>
            <a:r>
              <a:rPr lang="en-US" sz="1050" b="1" spc="180" kern="0" dirty="0">
                <a:solidFill>
                  <a:srgbClr val="5EEAD4"/>
                </a:solidFill>
                <a:latin typeface="Calibri" pitchFamily="34" charset="0"/>
                <a:ea typeface="Calibri" pitchFamily="34" charset="-122"/>
                <a:cs typeface="Calibri" pitchFamily="34" charset="-120"/>
              </a:rPr>
              <a:t>THE PRACTICAL REALITY</a:t>
            </a:r>
            <a:endParaRPr lang="en-US" sz="1050" dirty="0"/>
          </a:p>
        </p:txBody>
      </p:sp>
      <p:sp>
        <p:nvSpPr>
          <p:cNvPr id="10" name="Text 8"/>
          <p:cNvSpPr txBox="1"/>
          <p:nvPr/>
        </p:nvSpPr>
        <p:spPr>
          <a:xfrm>
            <a:off x="6579108" y="2084832"/>
            <a:ext cx="4805172" cy="585216"/>
          </a:xfrm>
          <a:prstGeom prst="rect">
            <a:avLst/>
          </a:prstGeom>
          <a:noFill/>
          <a:ln/>
        </p:spPr>
        <p:txBody>
          <a:bodyPr wrap="square" lIns="0" tIns="0" rIns="0" bIns="0" rtlCol="0" anchor="t"/>
          <a:lstStyle/>
          <a:p>
            <a:pPr indent="0" marL="0">
              <a:lnSpc>
                <a:spcPct val="105000"/>
              </a:lnSpc>
              <a:buNone/>
            </a:pPr>
            <a:r>
              <a:rPr lang="en-US" sz="1600" b="1" dirty="0">
                <a:solidFill>
                  <a:srgbClr val="EEF2FB"/>
                </a:solidFill>
                <a:latin typeface="Arial" pitchFamily="34" charset="0"/>
                <a:ea typeface="Arial" pitchFamily="34" charset="-122"/>
                <a:cs typeface="Arial" pitchFamily="34" charset="-120"/>
              </a:rPr>
              <a:t>Software that detects patterns at scale</a:t>
            </a:r>
            <a:endParaRPr lang="en-US" sz="1600" dirty="0"/>
          </a:p>
        </p:txBody>
      </p:sp>
      <p:sp>
        <p:nvSpPr>
          <p:cNvPr id="11" name="Text 9"/>
          <p:cNvSpPr txBox="1"/>
          <p:nvPr/>
        </p:nvSpPr>
        <p:spPr>
          <a:xfrm>
            <a:off x="6579108" y="2688336"/>
            <a:ext cx="4805172" cy="859536"/>
          </a:xfrm>
          <a:prstGeom prst="rect">
            <a:avLst/>
          </a:prstGeom>
          <a:noFill/>
          <a:ln/>
        </p:spPr>
        <p:txBody>
          <a:bodyPr wrap="square" lIns="0" tIns="0" rIns="0" bIns="0" rtlCol="0" anchor="t"/>
          <a:lstStyle/>
          <a:p>
            <a:pPr indent="0" marL="0">
              <a:lnSpc>
                <a:spcPct val="120000"/>
              </a:lnSpc>
              <a:buNone/>
            </a:pPr>
            <a:r>
              <a:rPr lang="en-US" sz="1400" dirty="0">
                <a:solidFill>
                  <a:srgbClr val="A8B3CC"/>
                </a:solidFill>
                <a:latin typeface="Calibri" pitchFamily="34" charset="0"/>
                <a:ea typeface="Calibri" pitchFamily="34" charset="-122"/>
                <a:cs typeface="Calibri" pitchFamily="34" charset="-120"/>
              </a:rPr>
              <a:t>Not alive, not conscious. Advanced pattern recognition applied to enormous volumes of data.</a:t>
            </a:r>
            <a:endParaRPr lang="en-US" sz="1400" dirty="0"/>
          </a:p>
        </p:txBody>
      </p:sp>
      <p:sp>
        <p:nvSpPr>
          <p:cNvPr id="12" name="Shape 10"/>
          <p:cNvSpPr/>
          <p:nvPr/>
        </p:nvSpPr>
        <p:spPr>
          <a:xfrm>
            <a:off x="548640" y="3950208"/>
            <a:ext cx="5317236" cy="2121408"/>
          </a:xfrm>
          <a:prstGeom prst="roundRect">
            <a:avLst>
              <a:gd name="adj" fmla="val 5172"/>
            </a:avLst>
          </a:prstGeom>
          <a:solidFill>
            <a:srgbClr val="16112B"/>
          </a:solidFill>
          <a:ln w="9525">
            <a:solidFill>
              <a:srgbClr val="FBBF24">
                <a:alpha val="45000"/>
              </a:srgbClr>
            </a:solidFill>
            <a:prstDash val="solid"/>
          </a:ln>
          <a:effectLst>
            <a:outerShdw sx="100000" sy="100000" kx="0" ky="0" algn="bl" rotWithShape="0" blurRad="127000" dist="25400" dir="5400000">
              <a:srgbClr val="000000">
                <a:alpha val="35000"/>
              </a:srgbClr>
            </a:outerShdw>
          </a:effectLst>
        </p:spPr>
      </p:sp>
      <p:sp>
        <p:nvSpPr>
          <p:cNvPr id="13" name="Text 11"/>
          <p:cNvSpPr txBox="1"/>
          <p:nvPr/>
        </p:nvSpPr>
        <p:spPr>
          <a:xfrm>
            <a:off x="804672" y="4151376"/>
            <a:ext cx="4805172" cy="237744"/>
          </a:xfrm>
          <a:prstGeom prst="rect">
            <a:avLst/>
          </a:prstGeom>
          <a:noFill/>
          <a:ln/>
        </p:spPr>
        <p:txBody>
          <a:bodyPr wrap="square" lIns="0" tIns="0" rIns="0" bIns="0" rtlCol="0" anchor="ctr"/>
          <a:lstStyle/>
          <a:p>
            <a:pPr indent="0" marL="0">
              <a:buNone/>
            </a:pPr>
            <a:r>
              <a:rPr lang="en-US" sz="1050" b="1" spc="180" kern="0" dirty="0">
                <a:solidFill>
                  <a:srgbClr val="FBBF24"/>
                </a:solidFill>
                <a:latin typeface="Calibri" pitchFamily="34" charset="0"/>
                <a:ea typeface="Calibri" pitchFamily="34" charset="-122"/>
                <a:cs typeface="Calibri" pitchFamily="34" charset="-120"/>
              </a:rPr>
              <a:t>TRADITIONAL SOFTWARE</a:t>
            </a:r>
            <a:endParaRPr lang="en-US" sz="1050" dirty="0"/>
          </a:p>
        </p:txBody>
      </p:sp>
      <p:sp>
        <p:nvSpPr>
          <p:cNvPr id="14" name="Text 12"/>
          <p:cNvSpPr txBox="1"/>
          <p:nvPr/>
        </p:nvSpPr>
        <p:spPr>
          <a:xfrm>
            <a:off x="804672" y="4407408"/>
            <a:ext cx="4805172" cy="585216"/>
          </a:xfrm>
          <a:prstGeom prst="rect">
            <a:avLst/>
          </a:prstGeom>
          <a:noFill/>
          <a:ln/>
        </p:spPr>
        <p:txBody>
          <a:bodyPr wrap="square" lIns="0" tIns="0" rIns="0" bIns="0" rtlCol="0" anchor="t"/>
          <a:lstStyle/>
          <a:p>
            <a:pPr indent="0" marL="0">
              <a:lnSpc>
                <a:spcPct val="105000"/>
              </a:lnSpc>
              <a:buNone/>
            </a:pPr>
            <a:r>
              <a:rPr lang="en-US" sz="1600" b="1" dirty="0">
                <a:solidFill>
                  <a:srgbClr val="EEF2FB"/>
                </a:solidFill>
                <a:latin typeface="Arial" pitchFamily="34" charset="0"/>
                <a:ea typeface="Arial" pitchFamily="34" charset="-122"/>
                <a:cs typeface="Arial" pitchFamily="34" charset="-120"/>
              </a:rPr>
              <a:t>Rigid, rule-based instructions</a:t>
            </a:r>
            <a:endParaRPr lang="en-US" sz="1600" dirty="0"/>
          </a:p>
        </p:txBody>
      </p:sp>
      <p:sp>
        <p:nvSpPr>
          <p:cNvPr id="15" name="Text 13"/>
          <p:cNvSpPr txBox="1"/>
          <p:nvPr/>
        </p:nvSpPr>
        <p:spPr>
          <a:xfrm>
            <a:off x="804672" y="5010912"/>
            <a:ext cx="4805172" cy="859536"/>
          </a:xfrm>
          <a:prstGeom prst="rect">
            <a:avLst/>
          </a:prstGeom>
          <a:noFill/>
          <a:ln/>
        </p:spPr>
        <p:txBody>
          <a:bodyPr wrap="square" lIns="0" tIns="0" rIns="0" bIns="0" rtlCol="0" anchor="t"/>
          <a:lstStyle/>
          <a:p>
            <a:pPr indent="0" marL="0">
              <a:lnSpc>
                <a:spcPct val="120000"/>
              </a:lnSpc>
              <a:buNone/>
            </a:pPr>
            <a:r>
              <a:rPr lang="en-US" sz="1400" dirty="0">
                <a:solidFill>
                  <a:srgbClr val="A8B3CC"/>
                </a:solidFill>
                <a:latin typeface="Calibri" pitchFamily="34" charset="0"/>
                <a:ea typeface="Calibri" pitchFamily="34" charset="-122"/>
                <a:cs typeface="Calibri" pitchFamily="34" charset="-120"/>
              </a:rPr>
              <a:t>Every rule is written in advance by a human. Hit an unexpected situation and the program simply gets stuck.</a:t>
            </a:r>
            <a:endParaRPr lang="en-US" sz="1400" dirty="0"/>
          </a:p>
        </p:txBody>
      </p:sp>
      <p:sp>
        <p:nvSpPr>
          <p:cNvPr id="16" name="Shape 14"/>
          <p:cNvSpPr/>
          <p:nvPr/>
        </p:nvSpPr>
        <p:spPr>
          <a:xfrm>
            <a:off x="6323076" y="3950208"/>
            <a:ext cx="5317236" cy="2121408"/>
          </a:xfrm>
          <a:prstGeom prst="roundRect">
            <a:avLst>
              <a:gd name="adj" fmla="val 5172"/>
            </a:avLst>
          </a:prstGeom>
          <a:solidFill>
            <a:srgbClr val="121A33"/>
          </a:solidFill>
          <a:ln w="9525">
            <a:solidFill>
              <a:srgbClr val="818CF8">
                <a:alpha val="45000"/>
              </a:srgbClr>
            </a:solidFill>
            <a:prstDash val="solid"/>
          </a:ln>
          <a:effectLst>
            <a:outerShdw sx="100000" sy="100000" kx="0" ky="0" algn="bl" rotWithShape="0" blurRad="127000" dist="25400" dir="5400000">
              <a:srgbClr val="000000">
                <a:alpha val="35000"/>
              </a:srgbClr>
            </a:outerShdw>
          </a:effectLst>
        </p:spPr>
      </p:sp>
      <p:sp>
        <p:nvSpPr>
          <p:cNvPr id="17" name="Text 15"/>
          <p:cNvSpPr txBox="1"/>
          <p:nvPr/>
        </p:nvSpPr>
        <p:spPr>
          <a:xfrm>
            <a:off x="6579108" y="4151376"/>
            <a:ext cx="4805172" cy="237744"/>
          </a:xfrm>
          <a:prstGeom prst="rect">
            <a:avLst/>
          </a:prstGeom>
          <a:noFill/>
          <a:ln/>
        </p:spPr>
        <p:txBody>
          <a:bodyPr wrap="square" lIns="0" tIns="0" rIns="0" bIns="0" rtlCol="0" anchor="ctr"/>
          <a:lstStyle/>
          <a:p>
            <a:pPr indent="0" marL="0">
              <a:buNone/>
            </a:pPr>
            <a:r>
              <a:rPr lang="en-US" sz="1050" b="1" spc="180" kern="0" dirty="0">
                <a:solidFill>
                  <a:srgbClr val="818CF8"/>
                </a:solidFill>
                <a:latin typeface="Calibri" pitchFamily="34" charset="0"/>
                <a:ea typeface="Calibri" pitchFamily="34" charset="-122"/>
                <a:cs typeface="Calibri" pitchFamily="34" charset="-120"/>
              </a:rPr>
              <a:t>ARTIFICIAL INTELLIGENCE</a:t>
            </a:r>
            <a:endParaRPr lang="en-US" sz="1050" dirty="0"/>
          </a:p>
        </p:txBody>
      </p:sp>
      <p:sp>
        <p:nvSpPr>
          <p:cNvPr id="18" name="Text 16"/>
          <p:cNvSpPr txBox="1"/>
          <p:nvPr/>
        </p:nvSpPr>
        <p:spPr>
          <a:xfrm>
            <a:off x="6579108" y="4407408"/>
            <a:ext cx="4805172" cy="585216"/>
          </a:xfrm>
          <a:prstGeom prst="rect">
            <a:avLst/>
          </a:prstGeom>
          <a:noFill/>
          <a:ln/>
        </p:spPr>
        <p:txBody>
          <a:bodyPr wrap="square" lIns="0" tIns="0" rIns="0" bIns="0" rtlCol="0" anchor="t"/>
          <a:lstStyle/>
          <a:p>
            <a:pPr indent="0" marL="0">
              <a:lnSpc>
                <a:spcPct val="105000"/>
              </a:lnSpc>
              <a:buNone/>
            </a:pPr>
            <a:r>
              <a:rPr lang="en-US" sz="1600" b="1" dirty="0">
                <a:solidFill>
                  <a:srgbClr val="EEF2FB"/>
                </a:solidFill>
                <a:latin typeface="Arial" pitchFamily="34" charset="0"/>
                <a:ea typeface="Arial" pitchFamily="34" charset="-122"/>
                <a:cs typeface="Arial" pitchFamily="34" charset="-120"/>
              </a:rPr>
              <a:t>Adaptive models trained on examples</a:t>
            </a:r>
            <a:endParaRPr lang="en-US" sz="1600" dirty="0"/>
          </a:p>
        </p:txBody>
      </p:sp>
      <p:sp>
        <p:nvSpPr>
          <p:cNvPr id="19" name="Text 17"/>
          <p:cNvSpPr txBox="1"/>
          <p:nvPr/>
        </p:nvSpPr>
        <p:spPr>
          <a:xfrm>
            <a:off x="6579108" y="5010912"/>
            <a:ext cx="4805172" cy="859536"/>
          </a:xfrm>
          <a:prstGeom prst="rect">
            <a:avLst/>
          </a:prstGeom>
          <a:noFill/>
          <a:ln/>
        </p:spPr>
        <p:txBody>
          <a:bodyPr wrap="square" lIns="0" tIns="0" rIns="0" bIns="0" rtlCol="0" anchor="t"/>
          <a:lstStyle/>
          <a:p>
            <a:pPr indent="0" marL="0">
              <a:lnSpc>
                <a:spcPct val="120000"/>
              </a:lnSpc>
              <a:buNone/>
            </a:pPr>
            <a:r>
              <a:rPr lang="en-US" sz="1400" dirty="0">
                <a:solidFill>
                  <a:srgbClr val="A8B3CC"/>
                </a:solidFill>
                <a:latin typeface="Calibri" pitchFamily="34" charset="0"/>
                <a:ea typeface="Calibri" pitchFamily="34" charset="-122"/>
                <a:cs typeface="Calibri" pitchFamily="34" charset="-120"/>
              </a:rPr>
              <a:t>Show it enough pictures of stop signs and it recognizes one in a blinding storm — with no rule written for that storm.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B16"/>
        </a:solidFill>
      </p:bgPr>
    </p:bg>
    <p:spTree>
      <p:nvGrpSpPr>
        <p:cNvPr id="1" name=""/>
        <p:cNvGrpSpPr/>
        <p:nvPr/>
      </p:nvGrpSpPr>
      <p:grpSpPr>
        <a:xfrm>
          <a:off x="0" y="0"/>
          <a:ext cx="0" cy="0"/>
          <a:chOff x="0" y="0"/>
          <a:chExt cx="0" cy="0"/>
        </a:xfrm>
      </p:grpSpPr>
      <p:sp>
        <p:nvSpPr>
          <p:cNvPr id="2" name="Text 0"/>
          <p:cNvSpPr txBox="1"/>
          <p:nvPr/>
        </p:nvSpPr>
        <p:spPr>
          <a:xfrm>
            <a:off x="548640" y="420624"/>
            <a:ext cx="11091672" cy="274320"/>
          </a:xfrm>
          <a:prstGeom prst="rect">
            <a:avLst/>
          </a:prstGeom>
          <a:noFill/>
          <a:ln/>
        </p:spPr>
        <p:txBody>
          <a:bodyPr wrap="square" lIns="0" tIns="0" rIns="0" bIns="0" rtlCol="0" anchor="ctr"/>
          <a:lstStyle/>
          <a:p>
            <a:pPr indent="0" marL="0">
              <a:buNone/>
            </a:pPr>
            <a:r>
              <a:rPr lang="en-US" sz="1200" b="1" spc="240" kern="0" dirty="0">
                <a:solidFill>
                  <a:srgbClr val="5EEAD4"/>
                </a:solidFill>
                <a:latin typeface="Calibri" pitchFamily="34" charset="0"/>
                <a:ea typeface="Calibri" pitchFamily="34" charset="-122"/>
                <a:cs typeface="Calibri" pitchFamily="34" charset="-120"/>
              </a:rPr>
              <a:t>SLIDE 2</a:t>
            </a:r>
            <a:endParaRPr lang="en-US" sz="1200" dirty="0"/>
          </a:p>
        </p:txBody>
      </p:sp>
      <p:sp>
        <p:nvSpPr>
          <p:cNvPr id="3" name="Text 1"/>
          <p:cNvSpPr txBox="1"/>
          <p:nvPr/>
        </p:nvSpPr>
        <p:spPr>
          <a:xfrm>
            <a:off x="548640" y="694944"/>
            <a:ext cx="11091672" cy="713232"/>
          </a:xfrm>
          <a:prstGeom prst="rect">
            <a:avLst/>
          </a:prstGeom>
          <a:noFill/>
          <a:ln/>
        </p:spPr>
        <p:txBody>
          <a:bodyPr wrap="square" lIns="0" tIns="0" rIns="0" bIns="0" rtlCol="0" anchor="ctr"/>
          <a:lstStyle/>
          <a:p>
            <a:pPr indent="0" marL="0">
              <a:buNone/>
            </a:pPr>
            <a:r>
              <a:rPr lang="en-US" sz="3400" b="1" dirty="0">
                <a:solidFill>
                  <a:srgbClr val="EEF2FB"/>
                </a:solidFill>
                <a:latin typeface="Arial" pitchFamily="34" charset="0"/>
                <a:ea typeface="Arial" pitchFamily="34" charset="-122"/>
                <a:cs typeface="Arial" pitchFamily="34" charset="-120"/>
              </a:rPr>
              <a:t>How AI Actually Learns</a:t>
            </a:r>
            <a:endParaRPr lang="en-US" sz="3400" dirty="0"/>
          </a:p>
        </p:txBody>
      </p:sp>
      <p:sp>
        <p:nvSpPr>
          <p:cNvPr id="4" name="Shape 2"/>
          <p:cNvSpPr/>
          <p:nvPr/>
        </p:nvSpPr>
        <p:spPr>
          <a:xfrm>
            <a:off x="548640" y="1591056"/>
            <a:ext cx="2578608" cy="841248"/>
          </a:xfrm>
          <a:prstGeom prst="roundRect">
            <a:avLst>
              <a:gd name="adj" fmla="val 13043"/>
            </a:avLst>
          </a:prstGeom>
          <a:solidFill>
            <a:srgbClr val="121A33"/>
          </a:solidFill>
          <a:ln w="12700">
            <a:solidFill>
              <a:srgbClr val="818CF8">
                <a:alpha val="65000"/>
              </a:srgbClr>
            </a:solidFill>
            <a:prstDash val="solid"/>
          </a:ln>
        </p:spPr>
      </p:sp>
      <p:sp>
        <p:nvSpPr>
          <p:cNvPr id="5" name="Text 3"/>
          <p:cNvSpPr txBox="1"/>
          <p:nvPr/>
        </p:nvSpPr>
        <p:spPr>
          <a:xfrm>
            <a:off x="548640" y="1591056"/>
            <a:ext cx="2578608" cy="841248"/>
          </a:xfrm>
          <a:prstGeom prst="rect">
            <a:avLst/>
          </a:prstGeom>
          <a:noFill/>
          <a:ln/>
        </p:spPr>
        <p:txBody>
          <a:bodyPr wrap="square" lIns="0" tIns="0" rIns="0" bIns="0" rtlCol="0" anchor="ctr"/>
          <a:lstStyle/>
          <a:p>
            <a:pPr algn="ctr" indent="0" marL="0">
              <a:buNone/>
            </a:pPr>
            <a:r>
              <a:rPr lang="en-US" sz="1500" b="1" dirty="0">
                <a:solidFill>
                  <a:srgbClr val="EEF2FB"/>
                </a:solidFill>
                <a:latin typeface="Arial" pitchFamily="34" charset="0"/>
                <a:ea typeface="Arial" pitchFamily="34" charset="-122"/>
                <a:cs typeface="Arial" pitchFamily="34" charset="-120"/>
              </a:rPr>
              <a:t>Input</a:t>
            </a:r>
            <a:endParaRPr lang="en-US" sz="1500" dirty="0"/>
          </a:p>
        </p:txBody>
      </p:sp>
      <p:sp>
        <p:nvSpPr>
          <p:cNvPr id="6" name="Text 4"/>
          <p:cNvSpPr txBox="1"/>
          <p:nvPr/>
        </p:nvSpPr>
        <p:spPr>
          <a:xfrm>
            <a:off x="3127248" y="1591056"/>
            <a:ext cx="256032" cy="841248"/>
          </a:xfrm>
          <a:prstGeom prst="rect">
            <a:avLst/>
          </a:prstGeom>
          <a:noFill/>
          <a:ln/>
        </p:spPr>
        <p:txBody>
          <a:bodyPr wrap="square" lIns="0" tIns="0" rIns="0" bIns="0" rtlCol="0" anchor="ctr"/>
          <a:lstStyle/>
          <a:p>
            <a:pPr algn="ctr" indent="0" marL="0">
              <a:buNone/>
            </a:pPr>
            <a:r>
              <a:rPr lang="en-US" sz="2000" b="1" dirty="0">
                <a:solidFill>
                  <a:srgbClr val="6B779A"/>
                </a:solidFill>
                <a:latin typeface="Arial" pitchFamily="34" charset="0"/>
                <a:ea typeface="Arial" pitchFamily="34" charset="-122"/>
                <a:cs typeface="Arial" pitchFamily="34" charset="-120"/>
              </a:rPr>
              <a:t>›</a:t>
            </a:r>
            <a:endParaRPr lang="en-US" sz="2000" dirty="0"/>
          </a:p>
        </p:txBody>
      </p:sp>
      <p:sp>
        <p:nvSpPr>
          <p:cNvPr id="7" name="Shape 5"/>
          <p:cNvSpPr/>
          <p:nvPr/>
        </p:nvSpPr>
        <p:spPr>
          <a:xfrm>
            <a:off x="3383280" y="1591056"/>
            <a:ext cx="2578608" cy="841248"/>
          </a:xfrm>
          <a:prstGeom prst="roundRect">
            <a:avLst>
              <a:gd name="adj" fmla="val 13043"/>
            </a:avLst>
          </a:prstGeom>
          <a:solidFill>
            <a:srgbClr val="121A33"/>
          </a:solidFill>
          <a:ln w="12700">
            <a:solidFill>
              <a:srgbClr val="818CF8">
                <a:alpha val="65000"/>
              </a:srgbClr>
            </a:solidFill>
            <a:prstDash val="solid"/>
          </a:ln>
        </p:spPr>
      </p:sp>
      <p:sp>
        <p:nvSpPr>
          <p:cNvPr id="8" name="Text 6"/>
          <p:cNvSpPr txBox="1"/>
          <p:nvPr/>
        </p:nvSpPr>
        <p:spPr>
          <a:xfrm>
            <a:off x="3383280" y="1591056"/>
            <a:ext cx="2578608" cy="841248"/>
          </a:xfrm>
          <a:prstGeom prst="rect">
            <a:avLst/>
          </a:prstGeom>
          <a:noFill/>
          <a:ln/>
        </p:spPr>
        <p:txBody>
          <a:bodyPr wrap="square" lIns="0" tIns="0" rIns="0" bIns="0" rtlCol="0" anchor="ctr"/>
          <a:lstStyle/>
          <a:p>
            <a:pPr algn="ctr" indent="0" marL="0">
              <a:buNone/>
            </a:pPr>
            <a:r>
              <a:rPr lang="en-US" sz="1500" b="1" dirty="0">
                <a:solidFill>
                  <a:srgbClr val="EEF2FB"/>
                </a:solidFill>
                <a:latin typeface="Arial" pitchFamily="34" charset="0"/>
                <a:ea typeface="Arial" pitchFamily="34" charset="-122"/>
                <a:cs typeface="Arial" pitchFamily="34" charset="-120"/>
              </a:rPr>
              <a:t>Guess</a:t>
            </a:r>
            <a:endParaRPr lang="en-US" sz="1500" dirty="0"/>
          </a:p>
        </p:txBody>
      </p:sp>
      <p:sp>
        <p:nvSpPr>
          <p:cNvPr id="9" name="Text 7"/>
          <p:cNvSpPr txBox="1"/>
          <p:nvPr/>
        </p:nvSpPr>
        <p:spPr>
          <a:xfrm>
            <a:off x="5961888" y="1591056"/>
            <a:ext cx="256032" cy="841248"/>
          </a:xfrm>
          <a:prstGeom prst="rect">
            <a:avLst/>
          </a:prstGeom>
          <a:noFill/>
          <a:ln/>
        </p:spPr>
        <p:txBody>
          <a:bodyPr wrap="square" lIns="0" tIns="0" rIns="0" bIns="0" rtlCol="0" anchor="ctr"/>
          <a:lstStyle/>
          <a:p>
            <a:pPr algn="ctr" indent="0" marL="0">
              <a:buNone/>
            </a:pPr>
            <a:r>
              <a:rPr lang="en-US" sz="2000" b="1" dirty="0">
                <a:solidFill>
                  <a:srgbClr val="6B779A"/>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6217920" y="1591056"/>
            <a:ext cx="2578608" cy="841248"/>
          </a:xfrm>
          <a:prstGeom prst="roundRect">
            <a:avLst>
              <a:gd name="adj" fmla="val 13043"/>
            </a:avLst>
          </a:prstGeom>
          <a:solidFill>
            <a:srgbClr val="121A33"/>
          </a:solidFill>
          <a:ln w="12700">
            <a:solidFill>
              <a:srgbClr val="818CF8">
                <a:alpha val="65000"/>
              </a:srgbClr>
            </a:solidFill>
            <a:prstDash val="solid"/>
          </a:ln>
        </p:spPr>
      </p:sp>
      <p:sp>
        <p:nvSpPr>
          <p:cNvPr id="11" name="Text 9"/>
          <p:cNvSpPr txBox="1"/>
          <p:nvPr/>
        </p:nvSpPr>
        <p:spPr>
          <a:xfrm>
            <a:off x="6217920" y="1591056"/>
            <a:ext cx="2578608" cy="841248"/>
          </a:xfrm>
          <a:prstGeom prst="rect">
            <a:avLst/>
          </a:prstGeom>
          <a:noFill/>
          <a:ln/>
        </p:spPr>
        <p:txBody>
          <a:bodyPr wrap="square" lIns="0" tIns="0" rIns="0" bIns="0" rtlCol="0" anchor="ctr"/>
          <a:lstStyle/>
          <a:p>
            <a:pPr algn="ctr" indent="0" marL="0">
              <a:buNone/>
            </a:pPr>
            <a:r>
              <a:rPr lang="en-US" sz="1500" b="1" dirty="0">
                <a:solidFill>
                  <a:srgbClr val="EEF2FB"/>
                </a:solidFill>
                <a:latin typeface="Arial" pitchFamily="34" charset="0"/>
                <a:ea typeface="Arial" pitchFamily="34" charset="-122"/>
                <a:cs typeface="Arial" pitchFamily="34" charset="-120"/>
              </a:rPr>
              <a:t>Error feedback</a:t>
            </a:r>
            <a:endParaRPr lang="en-US" sz="1500" dirty="0"/>
          </a:p>
        </p:txBody>
      </p:sp>
      <p:sp>
        <p:nvSpPr>
          <p:cNvPr id="12" name="Text 10"/>
          <p:cNvSpPr txBox="1"/>
          <p:nvPr/>
        </p:nvSpPr>
        <p:spPr>
          <a:xfrm>
            <a:off x="8796528" y="1591056"/>
            <a:ext cx="256032" cy="841248"/>
          </a:xfrm>
          <a:prstGeom prst="rect">
            <a:avLst/>
          </a:prstGeom>
          <a:noFill/>
          <a:ln/>
        </p:spPr>
        <p:txBody>
          <a:bodyPr wrap="square" lIns="0" tIns="0" rIns="0" bIns="0" rtlCol="0" anchor="ctr"/>
          <a:lstStyle/>
          <a:p>
            <a:pPr algn="ctr" indent="0" marL="0">
              <a:buNone/>
            </a:pPr>
            <a:r>
              <a:rPr lang="en-US" sz="2000" b="1" dirty="0">
                <a:solidFill>
                  <a:srgbClr val="6B779A"/>
                </a:solidFill>
                <a:latin typeface="Arial" pitchFamily="34" charset="0"/>
                <a:ea typeface="Arial" pitchFamily="34" charset="-122"/>
                <a:cs typeface="Arial" pitchFamily="34" charset="-120"/>
              </a:rPr>
              <a:t>›</a:t>
            </a:r>
            <a:endParaRPr lang="en-US" sz="2000" dirty="0"/>
          </a:p>
        </p:txBody>
      </p:sp>
      <p:sp>
        <p:nvSpPr>
          <p:cNvPr id="13" name="Shape 11"/>
          <p:cNvSpPr/>
          <p:nvPr/>
        </p:nvSpPr>
        <p:spPr>
          <a:xfrm>
            <a:off x="9052560" y="1591056"/>
            <a:ext cx="2578608" cy="841248"/>
          </a:xfrm>
          <a:prstGeom prst="roundRect">
            <a:avLst>
              <a:gd name="adj" fmla="val 13043"/>
            </a:avLst>
          </a:prstGeom>
          <a:solidFill>
            <a:srgbClr val="121A33"/>
          </a:solidFill>
          <a:ln w="12700">
            <a:solidFill>
              <a:srgbClr val="5EEAD4">
                <a:alpha val="65000"/>
              </a:srgbClr>
            </a:solidFill>
            <a:prstDash val="solid"/>
          </a:ln>
        </p:spPr>
      </p:sp>
      <p:sp>
        <p:nvSpPr>
          <p:cNvPr id="14" name="Text 12"/>
          <p:cNvSpPr txBox="1"/>
          <p:nvPr/>
        </p:nvSpPr>
        <p:spPr>
          <a:xfrm>
            <a:off x="9052560" y="1591056"/>
            <a:ext cx="2578608" cy="841248"/>
          </a:xfrm>
          <a:prstGeom prst="rect">
            <a:avLst/>
          </a:prstGeom>
          <a:noFill/>
          <a:ln/>
        </p:spPr>
        <p:txBody>
          <a:bodyPr wrap="square" lIns="0" tIns="0" rIns="0" bIns="0" rtlCol="0" anchor="ctr"/>
          <a:lstStyle/>
          <a:p>
            <a:pPr algn="ctr" indent="0" marL="0">
              <a:buNone/>
            </a:pPr>
            <a:r>
              <a:rPr lang="en-US" sz="1500" b="1" dirty="0">
                <a:solidFill>
                  <a:srgbClr val="5EEAD4"/>
                </a:solidFill>
                <a:latin typeface="Arial" pitchFamily="34" charset="0"/>
                <a:ea typeface="Arial" pitchFamily="34" charset="-122"/>
                <a:cs typeface="Arial" pitchFamily="34" charset="-120"/>
              </a:rPr>
              <a:t>Parameter adjustment</a:t>
            </a:r>
            <a:endParaRPr lang="en-US" sz="1500" dirty="0"/>
          </a:p>
        </p:txBody>
      </p:sp>
      <p:sp>
        <p:nvSpPr>
          <p:cNvPr id="15" name="Text 13"/>
          <p:cNvSpPr txBox="1"/>
          <p:nvPr/>
        </p:nvSpPr>
        <p:spPr>
          <a:xfrm>
            <a:off x="548640" y="2505456"/>
            <a:ext cx="11091672" cy="274320"/>
          </a:xfrm>
          <a:prstGeom prst="rect">
            <a:avLst/>
          </a:prstGeom>
          <a:noFill/>
          <a:ln/>
        </p:spPr>
        <p:txBody>
          <a:bodyPr wrap="square" lIns="0" tIns="0" rIns="0" bIns="0" rtlCol="0" anchor="ctr"/>
          <a:lstStyle/>
          <a:p>
            <a:pPr indent="0" marL="0">
              <a:buNone/>
            </a:pPr>
            <a:r>
              <a:rPr lang="en-US" sz="1250" i="1" dirty="0">
                <a:solidFill>
                  <a:srgbClr val="6B779A"/>
                </a:solidFill>
                <a:latin typeface="Calibri" pitchFamily="34" charset="0"/>
                <a:ea typeface="Calibri" pitchFamily="34" charset="-122"/>
                <a:cs typeface="Calibri" pitchFamily="34" charset="-120"/>
              </a:rPr>
              <a:t>The training loop — repeated billions of times</a:t>
            </a:r>
            <a:endParaRPr lang="en-US" sz="1250" dirty="0"/>
          </a:p>
        </p:txBody>
      </p:sp>
      <p:sp>
        <p:nvSpPr>
          <p:cNvPr id="16" name="Shape 14"/>
          <p:cNvSpPr/>
          <p:nvPr/>
        </p:nvSpPr>
        <p:spPr>
          <a:xfrm>
            <a:off x="548640" y="2999232"/>
            <a:ext cx="3453384" cy="2926080"/>
          </a:xfrm>
          <a:prstGeom prst="roundRect">
            <a:avLst>
              <a:gd name="adj" fmla="val 3750"/>
            </a:avLst>
          </a:prstGeom>
          <a:solidFill>
            <a:srgbClr val="121A33"/>
          </a:solidFill>
          <a:ln w="9525">
            <a:solidFill>
              <a:srgbClr val="818CF8">
                <a:alpha val="45000"/>
              </a:srgbClr>
            </a:solidFill>
            <a:prstDash val="solid"/>
          </a:ln>
          <a:effectLst>
            <a:outerShdw sx="100000" sy="100000" kx="0" ky="0" algn="bl" rotWithShape="0" blurRad="127000" dist="25400" dir="5400000">
              <a:srgbClr val="000000">
                <a:alpha val="35000"/>
              </a:srgbClr>
            </a:outerShdw>
          </a:effectLst>
        </p:spPr>
      </p:sp>
      <p:sp>
        <p:nvSpPr>
          <p:cNvPr id="17" name="Text 15"/>
          <p:cNvSpPr txBox="1"/>
          <p:nvPr/>
        </p:nvSpPr>
        <p:spPr>
          <a:xfrm>
            <a:off x="804672" y="3200400"/>
            <a:ext cx="2941320" cy="237744"/>
          </a:xfrm>
          <a:prstGeom prst="rect">
            <a:avLst/>
          </a:prstGeom>
          <a:noFill/>
          <a:ln/>
        </p:spPr>
        <p:txBody>
          <a:bodyPr wrap="square" lIns="0" tIns="0" rIns="0" bIns="0" rtlCol="0" anchor="ctr"/>
          <a:lstStyle/>
          <a:p>
            <a:pPr indent="0" marL="0">
              <a:buNone/>
            </a:pPr>
            <a:r>
              <a:rPr lang="en-US" sz="1050" b="1" spc="180" kern="0" dirty="0">
                <a:solidFill>
                  <a:srgbClr val="818CF8"/>
                </a:solidFill>
                <a:latin typeface="Calibri" pitchFamily="34" charset="0"/>
                <a:ea typeface="Calibri" pitchFamily="34" charset="-122"/>
                <a:cs typeface="Calibri" pitchFamily="34" charset="-120"/>
              </a:rPr>
              <a:t>01 · PATTERN LEARNING</a:t>
            </a:r>
            <a:endParaRPr lang="en-US" sz="1050" dirty="0"/>
          </a:p>
        </p:txBody>
      </p:sp>
      <p:sp>
        <p:nvSpPr>
          <p:cNvPr id="18" name="Text 16"/>
          <p:cNvSpPr txBox="1"/>
          <p:nvPr/>
        </p:nvSpPr>
        <p:spPr>
          <a:xfrm>
            <a:off x="804672" y="3456432"/>
            <a:ext cx="2941320" cy="585216"/>
          </a:xfrm>
          <a:prstGeom prst="rect">
            <a:avLst/>
          </a:prstGeom>
          <a:noFill/>
          <a:ln/>
        </p:spPr>
        <p:txBody>
          <a:bodyPr wrap="square" lIns="0" tIns="0" rIns="0" bIns="0" rtlCol="0" anchor="t"/>
          <a:lstStyle/>
          <a:p>
            <a:pPr indent="0" marL="0">
              <a:lnSpc>
                <a:spcPct val="105000"/>
              </a:lnSpc>
              <a:buNone/>
            </a:pPr>
            <a:r>
              <a:rPr lang="en-US" sz="1600" b="1" dirty="0">
                <a:solidFill>
                  <a:srgbClr val="EEF2FB"/>
                </a:solidFill>
                <a:latin typeface="Arial" pitchFamily="34" charset="0"/>
                <a:ea typeface="Arial" pitchFamily="34" charset="-122"/>
                <a:cs typeface="Arial" pitchFamily="34" charset="-120"/>
              </a:rPr>
              <a:t>Like a child naming animals</a:t>
            </a:r>
            <a:endParaRPr lang="en-US" sz="1600" dirty="0"/>
          </a:p>
        </p:txBody>
      </p:sp>
      <p:sp>
        <p:nvSpPr>
          <p:cNvPr id="19" name="Text 17"/>
          <p:cNvSpPr txBox="1"/>
          <p:nvPr/>
        </p:nvSpPr>
        <p:spPr>
          <a:xfrm>
            <a:off x="804672" y="4059936"/>
            <a:ext cx="2941320" cy="1664208"/>
          </a:xfrm>
          <a:prstGeom prst="rect">
            <a:avLst/>
          </a:prstGeom>
          <a:noFill/>
          <a:ln/>
        </p:spPr>
        <p:txBody>
          <a:bodyPr wrap="square" lIns="0" tIns="0" rIns="0" bIns="0" rtlCol="0" anchor="t"/>
          <a:lstStyle/>
          <a:p>
            <a:pPr indent="0" marL="0">
              <a:lnSpc>
                <a:spcPct val="120000"/>
              </a:lnSpc>
              <a:buNone/>
            </a:pPr>
            <a:r>
              <a:rPr lang="en-US" sz="1400" dirty="0">
                <a:solidFill>
                  <a:srgbClr val="A8B3CC"/>
                </a:solidFill>
                <a:latin typeface="Calibri" pitchFamily="34" charset="0"/>
                <a:ea typeface="Calibri" pitchFamily="34" charset="-122"/>
                <a:cs typeface="Calibri" pitchFamily="34" charset="-120"/>
              </a:rPr>
              <a:t>Point at a golden retriever: "dog." Point at a cat: "not a dog." Over time the common traits emerge on their own.</a:t>
            </a:r>
            <a:endParaRPr lang="en-US" sz="1400" dirty="0"/>
          </a:p>
        </p:txBody>
      </p:sp>
      <p:sp>
        <p:nvSpPr>
          <p:cNvPr id="20" name="Shape 18"/>
          <p:cNvSpPr/>
          <p:nvPr/>
        </p:nvSpPr>
        <p:spPr>
          <a:xfrm>
            <a:off x="4367784" y="2999232"/>
            <a:ext cx="3453384" cy="2926080"/>
          </a:xfrm>
          <a:prstGeom prst="roundRect">
            <a:avLst>
              <a:gd name="adj" fmla="val 3750"/>
            </a:avLst>
          </a:prstGeom>
          <a:solidFill>
            <a:srgbClr val="121A33"/>
          </a:solidFill>
          <a:ln w="9525">
            <a:solidFill>
              <a:srgbClr val="818CF8">
                <a:alpha val="45000"/>
              </a:srgbClr>
            </a:solidFill>
            <a:prstDash val="solid"/>
          </a:ln>
          <a:effectLst>
            <a:outerShdw sx="100000" sy="100000" kx="0" ky="0" algn="bl" rotWithShape="0" blurRad="127000" dist="25400" dir="5400000">
              <a:srgbClr val="000000">
                <a:alpha val="35000"/>
              </a:srgbClr>
            </a:outerShdw>
          </a:effectLst>
        </p:spPr>
      </p:sp>
      <p:sp>
        <p:nvSpPr>
          <p:cNvPr id="21" name="Text 19"/>
          <p:cNvSpPr txBox="1"/>
          <p:nvPr/>
        </p:nvSpPr>
        <p:spPr>
          <a:xfrm>
            <a:off x="4623816" y="3200400"/>
            <a:ext cx="2941320" cy="237744"/>
          </a:xfrm>
          <a:prstGeom prst="rect">
            <a:avLst/>
          </a:prstGeom>
          <a:noFill/>
          <a:ln/>
        </p:spPr>
        <p:txBody>
          <a:bodyPr wrap="square" lIns="0" tIns="0" rIns="0" bIns="0" rtlCol="0" anchor="ctr"/>
          <a:lstStyle/>
          <a:p>
            <a:pPr indent="0" marL="0">
              <a:buNone/>
            </a:pPr>
            <a:r>
              <a:rPr lang="en-US" sz="1050" b="1" spc="180" kern="0" dirty="0">
                <a:solidFill>
                  <a:srgbClr val="818CF8"/>
                </a:solidFill>
                <a:latin typeface="Calibri" pitchFamily="34" charset="0"/>
                <a:ea typeface="Calibri" pitchFamily="34" charset="-122"/>
                <a:cs typeface="Calibri" pitchFamily="34" charset="-120"/>
              </a:rPr>
              <a:t>02 · SCALE &amp; REPETITION</a:t>
            </a:r>
            <a:endParaRPr lang="en-US" sz="1050" dirty="0"/>
          </a:p>
        </p:txBody>
      </p:sp>
      <p:sp>
        <p:nvSpPr>
          <p:cNvPr id="22" name="Text 20"/>
          <p:cNvSpPr txBox="1"/>
          <p:nvPr/>
        </p:nvSpPr>
        <p:spPr>
          <a:xfrm>
            <a:off x="4623816" y="3456432"/>
            <a:ext cx="2941320" cy="585216"/>
          </a:xfrm>
          <a:prstGeom prst="rect">
            <a:avLst/>
          </a:prstGeom>
          <a:noFill/>
          <a:ln/>
        </p:spPr>
        <p:txBody>
          <a:bodyPr wrap="square" lIns="0" tIns="0" rIns="0" bIns="0" rtlCol="0" anchor="t"/>
          <a:lstStyle/>
          <a:p>
            <a:pPr indent="0" marL="0">
              <a:lnSpc>
                <a:spcPct val="105000"/>
              </a:lnSpc>
              <a:buNone/>
            </a:pPr>
            <a:r>
              <a:rPr lang="en-US" sz="1600" b="1" dirty="0">
                <a:solidFill>
                  <a:srgbClr val="EEF2FB"/>
                </a:solidFill>
                <a:latin typeface="Arial" pitchFamily="34" charset="0"/>
                <a:ea typeface="Arial" pitchFamily="34" charset="-122"/>
                <a:cs typeface="Arial" pitchFamily="34" charset="-120"/>
              </a:rPr>
              <a:t>Billions of trial-and-error cycles</a:t>
            </a:r>
            <a:endParaRPr lang="en-US" sz="1600" dirty="0"/>
          </a:p>
        </p:txBody>
      </p:sp>
      <p:sp>
        <p:nvSpPr>
          <p:cNvPr id="23" name="Text 21"/>
          <p:cNvSpPr txBox="1"/>
          <p:nvPr/>
        </p:nvSpPr>
        <p:spPr>
          <a:xfrm>
            <a:off x="4623816" y="4059936"/>
            <a:ext cx="2941320" cy="1664208"/>
          </a:xfrm>
          <a:prstGeom prst="rect">
            <a:avLst/>
          </a:prstGeom>
          <a:noFill/>
          <a:ln/>
        </p:spPr>
        <p:txBody>
          <a:bodyPr wrap="square" lIns="0" tIns="0" rIns="0" bIns="0" rtlCol="0" anchor="t"/>
          <a:lstStyle/>
          <a:p>
            <a:pPr indent="0" marL="0">
              <a:lnSpc>
                <a:spcPct val="120000"/>
              </a:lnSpc>
              <a:buNone/>
            </a:pPr>
            <a:r>
              <a:rPr lang="en-US" sz="1400" dirty="0">
                <a:solidFill>
                  <a:srgbClr val="A8B3CC"/>
                </a:solidFill>
                <a:latin typeface="Calibri" pitchFamily="34" charset="0"/>
                <a:ea typeface="Calibri" pitchFamily="34" charset="-122"/>
                <a:cs typeface="Calibri" pitchFamily="34" charset="-120"/>
              </a:rPr>
              <a:t>Run the loop across millions of examples and wild guesses sharpen into accurate predictions.</a:t>
            </a:r>
            <a:endParaRPr lang="en-US" sz="1400" dirty="0"/>
          </a:p>
        </p:txBody>
      </p:sp>
      <p:sp>
        <p:nvSpPr>
          <p:cNvPr id="24" name="Shape 22"/>
          <p:cNvSpPr/>
          <p:nvPr/>
        </p:nvSpPr>
        <p:spPr>
          <a:xfrm>
            <a:off x="8186928" y="2999232"/>
            <a:ext cx="3453384" cy="2926080"/>
          </a:xfrm>
          <a:prstGeom prst="roundRect">
            <a:avLst>
              <a:gd name="adj" fmla="val 3750"/>
            </a:avLst>
          </a:prstGeom>
          <a:solidFill>
            <a:srgbClr val="121A33"/>
          </a:solidFill>
          <a:ln w="9525">
            <a:solidFill>
              <a:srgbClr val="5EEAD4">
                <a:alpha val="45000"/>
              </a:srgbClr>
            </a:solidFill>
            <a:prstDash val="solid"/>
          </a:ln>
          <a:effectLst>
            <a:outerShdw sx="100000" sy="100000" kx="0" ky="0" algn="bl" rotWithShape="0" blurRad="127000" dist="25400" dir="5400000">
              <a:srgbClr val="000000">
                <a:alpha val="35000"/>
              </a:srgbClr>
            </a:outerShdw>
          </a:effectLst>
        </p:spPr>
      </p:sp>
      <p:sp>
        <p:nvSpPr>
          <p:cNvPr id="25" name="Text 23"/>
          <p:cNvSpPr txBox="1"/>
          <p:nvPr/>
        </p:nvSpPr>
        <p:spPr>
          <a:xfrm>
            <a:off x="8442960" y="3200400"/>
            <a:ext cx="2941320" cy="237744"/>
          </a:xfrm>
          <a:prstGeom prst="rect">
            <a:avLst/>
          </a:prstGeom>
          <a:noFill/>
          <a:ln/>
        </p:spPr>
        <p:txBody>
          <a:bodyPr wrap="square" lIns="0" tIns="0" rIns="0" bIns="0" rtlCol="0" anchor="ctr"/>
          <a:lstStyle/>
          <a:p>
            <a:pPr indent="0" marL="0">
              <a:buNone/>
            </a:pPr>
            <a:r>
              <a:rPr lang="en-US" sz="1050" b="1" spc="180" kern="0" dirty="0">
                <a:solidFill>
                  <a:srgbClr val="5EEAD4"/>
                </a:solidFill>
                <a:latin typeface="Calibri" pitchFamily="34" charset="0"/>
                <a:ea typeface="Calibri" pitchFamily="34" charset="-122"/>
                <a:cs typeface="Calibri" pitchFamily="34" charset="-120"/>
              </a:rPr>
              <a:t>03 · CORE DEPENDENCY</a:t>
            </a:r>
            <a:endParaRPr lang="en-US" sz="1050" dirty="0"/>
          </a:p>
        </p:txBody>
      </p:sp>
      <p:sp>
        <p:nvSpPr>
          <p:cNvPr id="26" name="Text 24"/>
          <p:cNvSpPr txBox="1"/>
          <p:nvPr/>
        </p:nvSpPr>
        <p:spPr>
          <a:xfrm>
            <a:off x="8442960" y="3456432"/>
            <a:ext cx="2941320" cy="585216"/>
          </a:xfrm>
          <a:prstGeom prst="rect">
            <a:avLst/>
          </a:prstGeom>
          <a:noFill/>
          <a:ln/>
        </p:spPr>
        <p:txBody>
          <a:bodyPr wrap="square" lIns="0" tIns="0" rIns="0" bIns="0" rtlCol="0" anchor="t"/>
          <a:lstStyle/>
          <a:p>
            <a:pPr indent="0" marL="0">
              <a:lnSpc>
                <a:spcPct val="105000"/>
              </a:lnSpc>
              <a:buNone/>
            </a:pPr>
            <a:r>
              <a:rPr lang="en-US" sz="1600" b="1" dirty="0">
                <a:solidFill>
                  <a:srgbClr val="EEF2FB"/>
                </a:solidFill>
                <a:latin typeface="Arial" pitchFamily="34" charset="0"/>
                <a:ea typeface="Arial" pitchFamily="34" charset="-122"/>
                <a:cs typeface="Arial" pitchFamily="34" charset="-120"/>
              </a:rPr>
              <a:t>Only as capable as its data</a:t>
            </a:r>
            <a:endParaRPr lang="en-US" sz="1600" dirty="0"/>
          </a:p>
        </p:txBody>
      </p:sp>
      <p:sp>
        <p:nvSpPr>
          <p:cNvPr id="27" name="Text 25"/>
          <p:cNvSpPr txBox="1"/>
          <p:nvPr/>
        </p:nvSpPr>
        <p:spPr>
          <a:xfrm>
            <a:off x="8442960" y="4059936"/>
            <a:ext cx="2941320" cy="1664208"/>
          </a:xfrm>
          <a:prstGeom prst="rect">
            <a:avLst/>
          </a:prstGeom>
          <a:noFill/>
          <a:ln/>
        </p:spPr>
        <p:txBody>
          <a:bodyPr wrap="square" lIns="0" tIns="0" rIns="0" bIns="0" rtlCol="0" anchor="t"/>
          <a:lstStyle/>
          <a:p>
            <a:pPr indent="0" marL="0">
              <a:lnSpc>
                <a:spcPct val="120000"/>
              </a:lnSpc>
              <a:buNone/>
            </a:pPr>
            <a:r>
              <a:rPr lang="en-US" sz="1400" dirty="0">
                <a:solidFill>
                  <a:srgbClr val="A8B3CC"/>
                </a:solidFill>
                <a:latin typeface="Calibri" pitchFamily="34" charset="0"/>
                <a:ea typeface="Calibri" pitchFamily="34" charset="-122"/>
                <a:cs typeface="Calibri" pitchFamily="34" charset="-120"/>
              </a:rPr>
              <a:t>Data is the textbook and repetition is the teacher. Without good data the system cannot learn a thing.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B16"/>
        </a:solidFill>
      </p:bgPr>
    </p:bg>
    <p:spTree>
      <p:nvGrpSpPr>
        <p:cNvPr id="1" name=""/>
        <p:cNvGrpSpPr/>
        <p:nvPr/>
      </p:nvGrpSpPr>
      <p:grpSpPr>
        <a:xfrm>
          <a:off x="0" y="0"/>
          <a:ext cx="0" cy="0"/>
          <a:chOff x="0" y="0"/>
          <a:chExt cx="0" cy="0"/>
        </a:xfrm>
      </p:grpSpPr>
      <p:sp>
        <p:nvSpPr>
          <p:cNvPr id="2" name="Text 0"/>
          <p:cNvSpPr txBox="1"/>
          <p:nvPr/>
        </p:nvSpPr>
        <p:spPr>
          <a:xfrm>
            <a:off x="548640" y="420624"/>
            <a:ext cx="11091672" cy="274320"/>
          </a:xfrm>
          <a:prstGeom prst="rect">
            <a:avLst/>
          </a:prstGeom>
          <a:noFill/>
          <a:ln/>
        </p:spPr>
        <p:txBody>
          <a:bodyPr wrap="square" lIns="0" tIns="0" rIns="0" bIns="0" rtlCol="0" anchor="ctr"/>
          <a:lstStyle/>
          <a:p>
            <a:pPr indent="0" marL="0">
              <a:buNone/>
            </a:pPr>
            <a:r>
              <a:rPr lang="en-US" sz="1200" b="1" spc="240" kern="0" dirty="0">
                <a:solidFill>
                  <a:srgbClr val="5EEAD4"/>
                </a:solidFill>
                <a:latin typeface="Calibri" pitchFamily="34" charset="0"/>
                <a:ea typeface="Calibri" pitchFamily="34" charset="-122"/>
                <a:cs typeface="Calibri" pitchFamily="34" charset="-120"/>
              </a:rPr>
              <a:t>SLIDE 3</a:t>
            </a:r>
            <a:endParaRPr lang="en-US" sz="1200" dirty="0"/>
          </a:p>
        </p:txBody>
      </p:sp>
      <p:sp>
        <p:nvSpPr>
          <p:cNvPr id="3" name="Text 1"/>
          <p:cNvSpPr txBox="1"/>
          <p:nvPr/>
        </p:nvSpPr>
        <p:spPr>
          <a:xfrm>
            <a:off x="548640" y="694944"/>
            <a:ext cx="11091672" cy="713232"/>
          </a:xfrm>
          <a:prstGeom prst="rect">
            <a:avLst/>
          </a:prstGeom>
          <a:noFill/>
          <a:ln/>
        </p:spPr>
        <p:txBody>
          <a:bodyPr wrap="square" lIns="0" tIns="0" rIns="0" bIns="0" rtlCol="0" anchor="ctr"/>
          <a:lstStyle/>
          <a:p>
            <a:pPr indent="0" marL="0">
              <a:buNone/>
            </a:pPr>
            <a:r>
              <a:rPr lang="en-US" sz="3400" b="1" dirty="0">
                <a:solidFill>
                  <a:srgbClr val="EEF2FB"/>
                </a:solidFill>
                <a:latin typeface="Arial" pitchFamily="34" charset="0"/>
                <a:ea typeface="Arial" pitchFamily="34" charset="-122"/>
                <a:cs typeface="Arial" pitchFamily="34" charset="-120"/>
              </a:rPr>
              <a:t>Where AI Actually Works Today</a:t>
            </a:r>
            <a:endParaRPr lang="en-US" sz="3400" dirty="0"/>
          </a:p>
        </p:txBody>
      </p:sp>
      <p:sp>
        <p:nvSpPr>
          <p:cNvPr id="4" name="Shape 2"/>
          <p:cNvSpPr/>
          <p:nvPr/>
        </p:nvSpPr>
        <p:spPr>
          <a:xfrm>
            <a:off x="548640" y="1627632"/>
            <a:ext cx="5317236" cy="2121408"/>
          </a:xfrm>
          <a:prstGeom prst="roundRect">
            <a:avLst>
              <a:gd name="adj" fmla="val 5172"/>
            </a:avLst>
          </a:prstGeom>
          <a:solidFill>
            <a:srgbClr val="121A33"/>
          </a:solidFill>
          <a:ln w="9525">
            <a:solidFill>
              <a:srgbClr val="5EEAD4">
                <a:alpha val="45000"/>
              </a:srgbClr>
            </a:solidFill>
            <a:prstDash val="solid"/>
          </a:ln>
          <a:effectLst>
            <a:outerShdw sx="100000" sy="100000" kx="0" ky="0" algn="bl" rotWithShape="0" blurRad="127000" dist="25400" dir="5400000">
              <a:srgbClr val="000000">
                <a:alpha val="35000"/>
              </a:srgbClr>
            </a:outerShdw>
          </a:effectLst>
        </p:spPr>
      </p:sp>
      <p:sp>
        <p:nvSpPr>
          <p:cNvPr id="5" name="Text 3"/>
          <p:cNvSpPr txBox="1"/>
          <p:nvPr/>
        </p:nvSpPr>
        <p:spPr>
          <a:xfrm>
            <a:off x="804672" y="1828800"/>
            <a:ext cx="4805172" cy="237744"/>
          </a:xfrm>
          <a:prstGeom prst="rect">
            <a:avLst/>
          </a:prstGeom>
          <a:noFill/>
          <a:ln/>
        </p:spPr>
        <p:txBody>
          <a:bodyPr wrap="square" lIns="0" tIns="0" rIns="0" bIns="0" rtlCol="0" anchor="ctr"/>
          <a:lstStyle/>
          <a:p>
            <a:pPr indent="0" marL="0">
              <a:buNone/>
            </a:pPr>
            <a:r>
              <a:rPr lang="en-US" sz="1050" b="1" spc="180" kern="0" dirty="0">
                <a:solidFill>
                  <a:srgbClr val="5EEAD4"/>
                </a:solidFill>
                <a:latin typeface="Calibri" pitchFamily="34" charset="0"/>
                <a:ea typeface="Calibri" pitchFamily="34" charset="-122"/>
                <a:cs typeface="Calibri" pitchFamily="34" charset="-120"/>
              </a:rPr>
              <a:t>HEALTHCARE</a:t>
            </a:r>
            <a:endParaRPr lang="en-US" sz="1050" dirty="0"/>
          </a:p>
        </p:txBody>
      </p:sp>
      <p:sp>
        <p:nvSpPr>
          <p:cNvPr id="6" name="Text 4"/>
          <p:cNvSpPr txBox="1"/>
          <p:nvPr/>
        </p:nvSpPr>
        <p:spPr>
          <a:xfrm>
            <a:off x="804672" y="2084832"/>
            <a:ext cx="4805172" cy="585216"/>
          </a:xfrm>
          <a:prstGeom prst="rect">
            <a:avLst/>
          </a:prstGeom>
          <a:noFill/>
          <a:ln/>
        </p:spPr>
        <p:txBody>
          <a:bodyPr wrap="square" lIns="0" tIns="0" rIns="0" bIns="0" rtlCol="0" anchor="t"/>
          <a:lstStyle/>
          <a:p>
            <a:pPr indent="0" marL="0">
              <a:lnSpc>
                <a:spcPct val="105000"/>
              </a:lnSpc>
              <a:buNone/>
            </a:pPr>
            <a:r>
              <a:rPr lang="en-US" sz="1600" b="1" dirty="0">
                <a:solidFill>
                  <a:srgbClr val="EEF2FB"/>
                </a:solidFill>
                <a:latin typeface="Arial" pitchFamily="34" charset="0"/>
                <a:ea typeface="Arial" pitchFamily="34" charset="-122"/>
                <a:cs typeface="Arial" pitchFamily="34" charset="-120"/>
              </a:rPr>
              <a:t>Diagnostic imaging support</a:t>
            </a:r>
            <a:endParaRPr lang="en-US" sz="1600" dirty="0"/>
          </a:p>
        </p:txBody>
      </p:sp>
      <p:sp>
        <p:nvSpPr>
          <p:cNvPr id="7" name="Text 5"/>
          <p:cNvSpPr txBox="1"/>
          <p:nvPr/>
        </p:nvSpPr>
        <p:spPr>
          <a:xfrm>
            <a:off x="804672" y="2688336"/>
            <a:ext cx="4805172" cy="859536"/>
          </a:xfrm>
          <a:prstGeom prst="rect">
            <a:avLst/>
          </a:prstGeom>
          <a:noFill/>
          <a:ln/>
        </p:spPr>
        <p:txBody>
          <a:bodyPr wrap="square" lIns="0" tIns="0" rIns="0" bIns="0" rtlCol="0" anchor="t"/>
          <a:lstStyle/>
          <a:p>
            <a:pPr indent="0" marL="0">
              <a:lnSpc>
                <a:spcPct val="120000"/>
              </a:lnSpc>
              <a:buNone/>
            </a:pPr>
            <a:r>
              <a:rPr lang="en-US" sz="1400" dirty="0">
                <a:solidFill>
                  <a:srgbClr val="A8B3CC"/>
                </a:solidFill>
                <a:latin typeface="Calibri" pitchFamily="34" charset="0"/>
                <a:ea typeface="Calibri" pitchFamily="34" charset="-122"/>
                <a:cs typeface="Calibri" pitchFamily="34" charset="-120"/>
              </a:rPr>
              <a:t>Scans medical imaging for early abnormalities that human eyes might miss at the end of a long shift.</a:t>
            </a:r>
            <a:endParaRPr lang="en-US" sz="1400" dirty="0"/>
          </a:p>
        </p:txBody>
      </p:sp>
      <p:sp>
        <p:nvSpPr>
          <p:cNvPr id="8" name="Shape 6"/>
          <p:cNvSpPr/>
          <p:nvPr/>
        </p:nvSpPr>
        <p:spPr>
          <a:xfrm>
            <a:off x="6323076" y="1627632"/>
            <a:ext cx="5317236" cy="2121408"/>
          </a:xfrm>
          <a:prstGeom prst="roundRect">
            <a:avLst>
              <a:gd name="adj" fmla="val 5172"/>
            </a:avLst>
          </a:prstGeom>
          <a:solidFill>
            <a:srgbClr val="121A33"/>
          </a:solidFill>
          <a:ln w="9525">
            <a:solidFill>
              <a:srgbClr val="818CF8">
                <a:alpha val="45000"/>
              </a:srgbClr>
            </a:solidFill>
            <a:prstDash val="solid"/>
          </a:ln>
          <a:effectLst>
            <a:outerShdw sx="100000" sy="100000" kx="0" ky="0" algn="bl" rotWithShape="0" blurRad="127000" dist="25400" dir="5400000">
              <a:srgbClr val="000000">
                <a:alpha val="35000"/>
              </a:srgbClr>
            </a:outerShdw>
          </a:effectLst>
        </p:spPr>
      </p:sp>
      <p:sp>
        <p:nvSpPr>
          <p:cNvPr id="9" name="Text 7"/>
          <p:cNvSpPr txBox="1"/>
          <p:nvPr/>
        </p:nvSpPr>
        <p:spPr>
          <a:xfrm>
            <a:off x="6579108" y="1828800"/>
            <a:ext cx="4805172" cy="237744"/>
          </a:xfrm>
          <a:prstGeom prst="rect">
            <a:avLst/>
          </a:prstGeom>
          <a:noFill/>
          <a:ln/>
        </p:spPr>
        <p:txBody>
          <a:bodyPr wrap="square" lIns="0" tIns="0" rIns="0" bIns="0" rtlCol="0" anchor="ctr"/>
          <a:lstStyle/>
          <a:p>
            <a:pPr indent="0" marL="0">
              <a:buNone/>
            </a:pPr>
            <a:r>
              <a:rPr lang="en-US" sz="1050" b="1" spc="180" kern="0" dirty="0">
                <a:solidFill>
                  <a:srgbClr val="818CF8"/>
                </a:solidFill>
                <a:latin typeface="Calibri" pitchFamily="34" charset="0"/>
                <a:ea typeface="Calibri" pitchFamily="34" charset="-122"/>
                <a:cs typeface="Calibri" pitchFamily="34" charset="-120"/>
              </a:rPr>
              <a:t>DAILY CONSUMER TOOLS</a:t>
            </a:r>
            <a:endParaRPr lang="en-US" sz="1050" dirty="0"/>
          </a:p>
        </p:txBody>
      </p:sp>
      <p:sp>
        <p:nvSpPr>
          <p:cNvPr id="10" name="Text 8"/>
          <p:cNvSpPr txBox="1"/>
          <p:nvPr/>
        </p:nvSpPr>
        <p:spPr>
          <a:xfrm>
            <a:off x="6579108" y="2084832"/>
            <a:ext cx="4805172" cy="585216"/>
          </a:xfrm>
          <a:prstGeom prst="rect">
            <a:avLst/>
          </a:prstGeom>
          <a:noFill/>
          <a:ln/>
        </p:spPr>
        <p:txBody>
          <a:bodyPr wrap="square" lIns="0" tIns="0" rIns="0" bIns="0" rtlCol="0" anchor="t"/>
          <a:lstStyle/>
          <a:p>
            <a:pPr indent="0" marL="0">
              <a:lnSpc>
                <a:spcPct val="105000"/>
              </a:lnSpc>
              <a:buNone/>
            </a:pPr>
            <a:r>
              <a:rPr lang="en-US" sz="1600" b="1" dirty="0">
                <a:solidFill>
                  <a:srgbClr val="EEF2FB"/>
                </a:solidFill>
                <a:latin typeface="Arial" pitchFamily="34" charset="0"/>
                <a:ea typeface="Arial" pitchFamily="34" charset="-122"/>
                <a:cs typeface="Arial" pitchFamily="34" charset="-120"/>
              </a:rPr>
              <a:t>Already in your pocket</a:t>
            </a:r>
            <a:endParaRPr lang="en-US" sz="1600" dirty="0"/>
          </a:p>
        </p:txBody>
      </p:sp>
      <p:sp>
        <p:nvSpPr>
          <p:cNvPr id="11" name="Text 9"/>
          <p:cNvSpPr txBox="1"/>
          <p:nvPr/>
        </p:nvSpPr>
        <p:spPr>
          <a:xfrm>
            <a:off x="6579108" y="2688336"/>
            <a:ext cx="4805172" cy="859536"/>
          </a:xfrm>
          <a:prstGeom prst="rect">
            <a:avLst/>
          </a:prstGeom>
          <a:noFill/>
          <a:ln/>
        </p:spPr>
        <p:txBody>
          <a:bodyPr wrap="square" lIns="0" tIns="0" rIns="0" bIns="0" rtlCol="0" anchor="t"/>
          <a:lstStyle/>
          <a:p>
            <a:pPr indent="0" marL="0">
              <a:lnSpc>
                <a:spcPct val="120000"/>
              </a:lnSpc>
              <a:buNone/>
            </a:pPr>
            <a:r>
              <a:rPr lang="en-US" sz="1400" dirty="0">
                <a:solidFill>
                  <a:srgbClr val="A8B3CC"/>
                </a:solidFill>
                <a:latin typeface="Calibri" pitchFamily="34" charset="0"/>
                <a:ea typeface="Calibri" pitchFamily="34" charset="-122"/>
                <a:cs typeface="Calibri" pitchFamily="34" charset="-120"/>
              </a:rPr>
              <a:t>Predictive navigation around sudden accidents, real-time translation, and billions of spam emails blocked.</a:t>
            </a:r>
            <a:endParaRPr lang="en-US" sz="1400" dirty="0"/>
          </a:p>
        </p:txBody>
      </p:sp>
      <p:sp>
        <p:nvSpPr>
          <p:cNvPr id="12" name="Shape 10"/>
          <p:cNvSpPr/>
          <p:nvPr/>
        </p:nvSpPr>
        <p:spPr>
          <a:xfrm>
            <a:off x="548640" y="3950208"/>
            <a:ext cx="5317236" cy="2121408"/>
          </a:xfrm>
          <a:prstGeom prst="roundRect">
            <a:avLst>
              <a:gd name="adj" fmla="val 5172"/>
            </a:avLst>
          </a:prstGeom>
          <a:solidFill>
            <a:srgbClr val="121A33"/>
          </a:solidFill>
          <a:ln w="9525">
            <a:solidFill>
              <a:srgbClr val="818CF8">
                <a:alpha val="45000"/>
              </a:srgbClr>
            </a:solidFill>
            <a:prstDash val="solid"/>
          </a:ln>
          <a:effectLst>
            <a:outerShdw sx="100000" sy="100000" kx="0" ky="0" algn="bl" rotWithShape="0" blurRad="127000" dist="25400" dir="5400000">
              <a:srgbClr val="000000">
                <a:alpha val="35000"/>
              </a:srgbClr>
            </a:outerShdw>
          </a:effectLst>
        </p:spPr>
      </p:sp>
      <p:sp>
        <p:nvSpPr>
          <p:cNvPr id="13" name="Text 11"/>
          <p:cNvSpPr txBox="1"/>
          <p:nvPr/>
        </p:nvSpPr>
        <p:spPr>
          <a:xfrm>
            <a:off x="804672" y="4151376"/>
            <a:ext cx="4805172" cy="237744"/>
          </a:xfrm>
          <a:prstGeom prst="rect">
            <a:avLst/>
          </a:prstGeom>
          <a:noFill/>
          <a:ln/>
        </p:spPr>
        <p:txBody>
          <a:bodyPr wrap="square" lIns="0" tIns="0" rIns="0" bIns="0" rtlCol="0" anchor="ctr"/>
          <a:lstStyle/>
          <a:p>
            <a:pPr indent="0" marL="0">
              <a:buNone/>
            </a:pPr>
            <a:r>
              <a:rPr lang="en-US" sz="1050" b="1" spc="180" kern="0" dirty="0">
                <a:solidFill>
                  <a:srgbClr val="818CF8"/>
                </a:solidFill>
                <a:latin typeface="Calibri" pitchFamily="34" charset="0"/>
                <a:ea typeface="Calibri" pitchFamily="34" charset="-122"/>
                <a:cs typeface="Calibri" pitchFamily="34" charset="-120"/>
              </a:rPr>
              <a:t>BUSINESS OPERATIONS</a:t>
            </a:r>
            <a:endParaRPr lang="en-US" sz="1050" dirty="0"/>
          </a:p>
        </p:txBody>
      </p:sp>
      <p:sp>
        <p:nvSpPr>
          <p:cNvPr id="14" name="Text 12"/>
          <p:cNvSpPr txBox="1"/>
          <p:nvPr/>
        </p:nvSpPr>
        <p:spPr>
          <a:xfrm>
            <a:off x="804672" y="4407408"/>
            <a:ext cx="4805172" cy="585216"/>
          </a:xfrm>
          <a:prstGeom prst="rect">
            <a:avLst/>
          </a:prstGeom>
          <a:noFill/>
          <a:ln/>
        </p:spPr>
        <p:txBody>
          <a:bodyPr wrap="square" lIns="0" tIns="0" rIns="0" bIns="0" rtlCol="0" anchor="t"/>
          <a:lstStyle/>
          <a:p>
            <a:pPr indent="0" marL="0">
              <a:lnSpc>
                <a:spcPct val="105000"/>
              </a:lnSpc>
              <a:buNone/>
            </a:pPr>
            <a:r>
              <a:rPr lang="en-US" sz="1600" b="1" dirty="0">
                <a:solidFill>
                  <a:srgbClr val="EEF2FB"/>
                </a:solidFill>
                <a:latin typeface="Arial" pitchFamily="34" charset="0"/>
                <a:ea typeface="Arial" pitchFamily="34" charset="-122"/>
                <a:cs typeface="Arial" pitchFamily="34" charset="-120"/>
              </a:rPr>
              <a:t>Working behind the scenes</a:t>
            </a:r>
            <a:endParaRPr lang="en-US" sz="1600" dirty="0"/>
          </a:p>
        </p:txBody>
      </p:sp>
      <p:sp>
        <p:nvSpPr>
          <p:cNvPr id="15" name="Text 13"/>
          <p:cNvSpPr txBox="1"/>
          <p:nvPr/>
        </p:nvSpPr>
        <p:spPr>
          <a:xfrm>
            <a:off x="804672" y="5010912"/>
            <a:ext cx="4805172" cy="859536"/>
          </a:xfrm>
          <a:prstGeom prst="rect">
            <a:avLst/>
          </a:prstGeom>
          <a:noFill/>
          <a:ln/>
        </p:spPr>
        <p:txBody>
          <a:bodyPr wrap="square" lIns="0" tIns="0" rIns="0" bIns="0" rtlCol="0" anchor="t"/>
          <a:lstStyle/>
          <a:p>
            <a:pPr indent="0" marL="0">
              <a:lnSpc>
                <a:spcPct val="120000"/>
              </a:lnSpc>
              <a:buNone/>
            </a:pPr>
            <a:r>
              <a:rPr lang="en-US" sz="1400" dirty="0">
                <a:solidFill>
                  <a:srgbClr val="A8B3CC"/>
                </a:solidFill>
                <a:latin typeface="Calibri" pitchFamily="34" charset="0"/>
                <a:ea typeface="Calibri" pitchFamily="34" charset="-122"/>
                <a:cs typeface="Calibri" pitchFamily="34" charset="-120"/>
              </a:rPr>
              <a:t>Fraud detection before a charge goes through, automated logistics, and first drafts of computer code.</a:t>
            </a:r>
            <a:endParaRPr lang="en-US" sz="1400" dirty="0"/>
          </a:p>
        </p:txBody>
      </p:sp>
      <p:sp>
        <p:nvSpPr>
          <p:cNvPr id="16" name="Shape 14"/>
          <p:cNvSpPr/>
          <p:nvPr/>
        </p:nvSpPr>
        <p:spPr>
          <a:xfrm>
            <a:off x="6323076" y="3950208"/>
            <a:ext cx="5317236" cy="2121408"/>
          </a:xfrm>
          <a:prstGeom prst="roundRect">
            <a:avLst>
              <a:gd name="adj" fmla="val 5172"/>
            </a:avLst>
          </a:prstGeom>
          <a:solidFill>
            <a:srgbClr val="121A33"/>
          </a:solidFill>
          <a:ln w="9525">
            <a:solidFill>
              <a:srgbClr val="5EEAD4">
                <a:alpha val="45000"/>
              </a:srgbClr>
            </a:solidFill>
            <a:prstDash val="solid"/>
          </a:ln>
          <a:effectLst>
            <a:outerShdw sx="100000" sy="100000" kx="0" ky="0" algn="bl" rotWithShape="0" blurRad="127000" dist="25400" dir="5400000">
              <a:srgbClr val="000000">
                <a:alpha val="35000"/>
              </a:srgbClr>
            </a:outerShdw>
          </a:effectLst>
        </p:spPr>
      </p:sp>
      <p:sp>
        <p:nvSpPr>
          <p:cNvPr id="17" name="Text 15"/>
          <p:cNvSpPr txBox="1"/>
          <p:nvPr/>
        </p:nvSpPr>
        <p:spPr>
          <a:xfrm>
            <a:off x="6579108" y="4151376"/>
            <a:ext cx="4805172" cy="237744"/>
          </a:xfrm>
          <a:prstGeom prst="rect">
            <a:avLst/>
          </a:prstGeom>
          <a:noFill/>
          <a:ln/>
        </p:spPr>
        <p:txBody>
          <a:bodyPr wrap="square" lIns="0" tIns="0" rIns="0" bIns="0" rtlCol="0" anchor="ctr"/>
          <a:lstStyle/>
          <a:p>
            <a:pPr indent="0" marL="0">
              <a:buNone/>
            </a:pPr>
            <a:r>
              <a:rPr lang="en-US" sz="1050" b="1" spc="180" kern="0" dirty="0">
                <a:solidFill>
                  <a:srgbClr val="5EEAD4"/>
                </a:solidFill>
                <a:latin typeface="Calibri" pitchFamily="34" charset="0"/>
                <a:ea typeface="Calibri" pitchFamily="34" charset="-122"/>
                <a:cs typeface="Calibri" pitchFamily="34" charset="-120"/>
              </a:rPr>
              <a:t>THE PRACTICAL ROLE</a:t>
            </a:r>
            <a:endParaRPr lang="en-US" sz="1050" dirty="0"/>
          </a:p>
        </p:txBody>
      </p:sp>
      <p:sp>
        <p:nvSpPr>
          <p:cNvPr id="18" name="Text 16"/>
          <p:cNvSpPr txBox="1"/>
          <p:nvPr/>
        </p:nvSpPr>
        <p:spPr>
          <a:xfrm>
            <a:off x="6579108" y="4407408"/>
            <a:ext cx="4805172" cy="585216"/>
          </a:xfrm>
          <a:prstGeom prst="rect">
            <a:avLst/>
          </a:prstGeom>
          <a:noFill/>
          <a:ln/>
        </p:spPr>
        <p:txBody>
          <a:bodyPr wrap="square" lIns="0" tIns="0" rIns="0" bIns="0" rtlCol="0" anchor="t"/>
          <a:lstStyle/>
          <a:p>
            <a:pPr indent="0" marL="0">
              <a:lnSpc>
                <a:spcPct val="105000"/>
              </a:lnSpc>
              <a:buNone/>
            </a:pPr>
            <a:r>
              <a:rPr lang="en-US" sz="1600" b="1" dirty="0">
                <a:solidFill>
                  <a:srgbClr val="EEF2FB"/>
                </a:solidFill>
                <a:latin typeface="Arial" pitchFamily="34" charset="0"/>
                <a:ea typeface="Arial" pitchFamily="34" charset="-122"/>
                <a:cs typeface="Arial" pitchFamily="34" charset="-120"/>
              </a:rPr>
              <a:t>Augmenting, not replacing</a:t>
            </a:r>
            <a:endParaRPr lang="en-US" sz="1600" dirty="0"/>
          </a:p>
        </p:txBody>
      </p:sp>
      <p:sp>
        <p:nvSpPr>
          <p:cNvPr id="19" name="Text 17"/>
          <p:cNvSpPr txBox="1"/>
          <p:nvPr/>
        </p:nvSpPr>
        <p:spPr>
          <a:xfrm>
            <a:off x="6579108" y="5010912"/>
            <a:ext cx="4805172" cy="859536"/>
          </a:xfrm>
          <a:prstGeom prst="rect">
            <a:avLst/>
          </a:prstGeom>
          <a:noFill/>
          <a:ln/>
        </p:spPr>
        <p:txBody>
          <a:bodyPr wrap="square" lIns="0" tIns="0" rIns="0" bIns="0" rtlCol="0" anchor="t"/>
          <a:lstStyle/>
          <a:p>
            <a:pPr indent="0" marL="0">
              <a:lnSpc>
                <a:spcPct val="120000"/>
              </a:lnSpc>
              <a:buNone/>
            </a:pPr>
            <a:r>
              <a:rPr lang="en-US" sz="1400" dirty="0">
                <a:solidFill>
                  <a:srgbClr val="A8B3CC"/>
                </a:solidFill>
                <a:latin typeface="Calibri" pitchFamily="34" charset="0"/>
                <a:ea typeface="Calibri" pitchFamily="34" charset="-122"/>
                <a:cs typeface="Calibri" pitchFamily="34" charset="-120"/>
              </a:rPr>
              <a:t>It handles heavy, repetitive analysis so people decide faster — rarely replacing whole teams on its own.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B16"/>
        </a:solidFill>
      </p:bgPr>
    </p:bg>
    <p:spTree>
      <p:nvGrpSpPr>
        <p:cNvPr id="1" name=""/>
        <p:cNvGrpSpPr/>
        <p:nvPr/>
      </p:nvGrpSpPr>
      <p:grpSpPr>
        <a:xfrm>
          <a:off x="0" y="0"/>
          <a:ext cx="0" cy="0"/>
          <a:chOff x="0" y="0"/>
          <a:chExt cx="0" cy="0"/>
        </a:xfrm>
      </p:grpSpPr>
      <p:sp>
        <p:nvSpPr>
          <p:cNvPr id="2" name="Text 0"/>
          <p:cNvSpPr txBox="1"/>
          <p:nvPr/>
        </p:nvSpPr>
        <p:spPr>
          <a:xfrm>
            <a:off x="548640" y="420624"/>
            <a:ext cx="11091672" cy="274320"/>
          </a:xfrm>
          <a:prstGeom prst="rect">
            <a:avLst/>
          </a:prstGeom>
          <a:noFill/>
          <a:ln/>
        </p:spPr>
        <p:txBody>
          <a:bodyPr wrap="square" lIns="0" tIns="0" rIns="0" bIns="0" rtlCol="0" anchor="ctr"/>
          <a:lstStyle/>
          <a:p>
            <a:pPr indent="0" marL="0">
              <a:buNone/>
            </a:pPr>
            <a:r>
              <a:rPr lang="en-US" sz="1200" b="1" spc="240" kern="0" dirty="0">
                <a:solidFill>
                  <a:srgbClr val="5EEAD4"/>
                </a:solidFill>
                <a:latin typeface="Calibri" pitchFamily="34" charset="0"/>
                <a:ea typeface="Calibri" pitchFamily="34" charset="-122"/>
                <a:cs typeface="Calibri" pitchFamily="34" charset="-120"/>
              </a:rPr>
              <a:t>SLIDE 4</a:t>
            </a:r>
            <a:endParaRPr lang="en-US" sz="1200" dirty="0"/>
          </a:p>
        </p:txBody>
      </p:sp>
      <p:sp>
        <p:nvSpPr>
          <p:cNvPr id="3" name="Text 1"/>
          <p:cNvSpPr txBox="1"/>
          <p:nvPr/>
        </p:nvSpPr>
        <p:spPr>
          <a:xfrm>
            <a:off x="548640" y="694944"/>
            <a:ext cx="11091672" cy="713232"/>
          </a:xfrm>
          <a:prstGeom prst="rect">
            <a:avLst/>
          </a:prstGeom>
          <a:noFill/>
          <a:ln/>
        </p:spPr>
        <p:txBody>
          <a:bodyPr wrap="square" lIns="0" tIns="0" rIns="0" bIns="0" rtlCol="0" anchor="ctr"/>
          <a:lstStyle/>
          <a:p>
            <a:pPr indent="0" marL="0">
              <a:buNone/>
            </a:pPr>
            <a:r>
              <a:rPr lang="en-US" sz="3400" b="1" dirty="0">
                <a:solidFill>
                  <a:srgbClr val="EEF2FB"/>
                </a:solidFill>
                <a:latin typeface="Arial" pitchFamily="34" charset="0"/>
                <a:ea typeface="Arial" pitchFamily="34" charset="-122"/>
                <a:cs typeface="Arial" pitchFamily="34" charset="-120"/>
              </a:rPr>
              <a:t>Real Limitations and Risks</a:t>
            </a:r>
            <a:endParaRPr lang="en-US" sz="3400" dirty="0"/>
          </a:p>
        </p:txBody>
      </p:sp>
      <p:sp>
        <p:nvSpPr>
          <p:cNvPr id="4" name="Shape 2"/>
          <p:cNvSpPr/>
          <p:nvPr/>
        </p:nvSpPr>
        <p:spPr>
          <a:xfrm>
            <a:off x="548640" y="1572768"/>
            <a:ext cx="11091672" cy="1024128"/>
          </a:xfrm>
          <a:prstGeom prst="roundRect">
            <a:avLst>
              <a:gd name="adj" fmla="val 8929"/>
            </a:avLst>
          </a:prstGeom>
          <a:solidFill>
            <a:srgbClr val="121A33"/>
          </a:solidFill>
          <a:ln w="9525">
            <a:solidFill>
              <a:srgbClr val="FB7185">
                <a:alpha val="35000"/>
              </a:srgbClr>
            </a:solidFill>
            <a:prstDash val="solid"/>
          </a:ln>
        </p:spPr>
      </p:sp>
      <p:sp>
        <p:nvSpPr>
          <p:cNvPr id="5" name="Shape 3"/>
          <p:cNvSpPr/>
          <p:nvPr/>
        </p:nvSpPr>
        <p:spPr>
          <a:xfrm>
            <a:off x="822960" y="1828800"/>
            <a:ext cx="512064" cy="512064"/>
          </a:xfrm>
          <a:prstGeom prst="ellipse">
            <a:avLst/>
          </a:prstGeom>
          <a:solidFill>
            <a:srgbClr val="FB7185">
              <a:alpha val="22000"/>
            </a:srgbClr>
          </a:solidFill>
          <a:ln w="12700">
            <a:solidFill>
              <a:srgbClr val="FB7185">
                <a:alpha val="65000"/>
              </a:srgbClr>
            </a:solidFill>
            <a:prstDash val="solid"/>
          </a:ln>
        </p:spPr>
      </p:sp>
      <p:sp>
        <p:nvSpPr>
          <p:cNvPr id="6" name="Text 4"/>
          <p:cNvSpPr txBox="1"/>
          <p:nvPr/>
        </p:nvSpPr>
        <p:spPr>
          <a:xfrm>
            <a:off x="822960" y="1828800"/>
            <a:ext cx="512064" cy="512064"/>
          </a:xfrm>
          <a:prstGeom prst="rect">
            <a:avLst/>
          </a:prstGeom>
          <a:noFill/>
          <a:ln/>
        </p:spPr>
        <p:txBody>
          <a:bodyPr wrap="square" lIns="0" tIns="0" rIns="0" bIns="0" rtlCol="0" anchor="ctr"/>
          <a:lstStyle/>
          <a:p>
            <a:pPr algn="ctr" indent="0" marL="0">
              <a:buNone/>
            </a:pPr>
            <a:r>
              <a:rPr lang="en-US" sz="1500" b="1" dirty="0">
                <a:solidFill>
                  <a:srgbClr val="EEF2FB"/>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508760" y="1746504"/>
            <a:ext cx="3337560" cy="365760"/>
          </a:xfrm>
          <a:prstGeom prst="rect">
            <a:avLst/>
          </a:prstGeom>
          <a:noFill/>
          <a:ln/>
        </p:spPr>
        <p:txBody>
          <a:bodyPr wrap="square" lIns="0" tIns="0" rIns="0" bIns="0" rtlCol="0" anchor="ctr"/>
          <a:lstStyle/>
          <a:p>
            <a:pPr indent="0" marL="0">
              <a:buNone/>
            </a:pPr>
            <a:r>
              <a:rPr lang="en-US" sz="1600" b="1" dirty="0">
                <a:solidFill>
                  <a:srgbClr val="EEF2FB"/>
                </a:solidFill>
                <a:latin typeface="Arial" pitchFamily="34" charset="0"/>
                <a:ea typeface="Arial" pitchFamily="34" charset="-122"/>
                <a:cs typeface="Arial" pitchFamily="34" charset="-120"/>
              </a:rPr>
              <a:t>Lack of true comprehension</a:t>
            </a:r>
            <a:endParaRPr lang="en-US" sz="1600" dirty="0"/>
          </a:p>
        </p:txBody>
      </p:sp>
      <p:sp>
        <p:nvSpPr>
          <p:cNvPr id="8" name="Text 6"/>
          <p:cNvSpPr txBox="1"/>
          <p:nvPr/>
        </p:nvSpPr>
        <p:spPr>
          <a:xfrm>
            <a:off x="1508760" y="2103120"/>
            <a:ext cx="9811512" cy="365760"/>
          </a:xfrm>
          <a:prstGeom prst="rect">
            <a:avLst/>
          </a:prstGeom>
          <a:noFill/>
          <a:ln/>
        </p:spPr>
        <p:txBody>
          <a:bodyPr wrap="square" lIns="0" tIns="0" rIns="0" bIns="0" rtlCol="0" anchor="t"/>
          <a:lstStyle/>
          <a:p>
            <a:pPr indent="0" marL="0">
              <a:buNone/>
            </a:pPr>
            <a:r>
              <a:rPr lang="en-US" sz="1400" dirty="0">
                <a:solidFill>
                  <a:srgbClr val="A8B3CC"/>
                </a:solidFill>
                <a:latin typeface="Calibri" pitchFamily="34" charset="0"/>
                <a:ea typeface="Calibri" pitchFamily="34" charset="-122"/>
                <a:cs typeface="Calibri" pitchFamily="34" charset="-120"/>
              </a:rPr>
              <a:t>Generates fluent output with zero common sense — it never understands what any of it means.</a:t>
            </a:r>
            <a:endParaRPr lang="en-US" sz="1400" dirty="0"/>
          </a:p>
        </p:txBody>
      </p:sp>
      <p:sp>
        <p:nvSpPr>
          <p:cNvPr id="9" name="Shape 7"/>
          <p:cNvSpPr/>
          <p:nvPr/>
        </p:nvSpPr>
        <p:spPr>
          <a:xfrm>
            <a:off x="548640" y="2743200"/>
            <a:ext cx="11091672" cy="1024128"/>
          </a:xfrm>
          <a:prstGeom prst="roundRect">
            <a:avLst>
              <a:gd name="adj" fmla="val 8929"/>
            </a:avLst>
          </a:prstGeom>
          <a:solidFill>
            <a:srgbClr val="121A33"/>
          </a:solidFill>
          <a:ln w="9525">
            <a:solidFill>
              <a:srgbClr val="FB7185">
                <a:alpha val="35000"/>
              </a:srgbClr>
            </a:solidFill>
            <a:prstDash val="solid"/>
          </a:ln>
        </p:spPr>
      </p:sp>
      <p:sp>
        <p:nvSpPr>
          <p:cNvPr id="10" name="Shape 8"/>
          <p:cNvSpPr/>
          <p:nvPr/>
        </p:nvSpPr>
        <p:spPr>
          <a:xfrm>
            <a:off x="822960" y="2999232"/>
            <a:ext cx="512064" cy="512064"/>
          </a:xfrm>
          <a:prstGeom prst="ellipse">
            <a:avLst/>
          </a:prstGeom>
          <a:solidFill>
            <a:srgbClr val="FB7185">
              <a:alpha val="22000"/>
            </a:srgbClr>
          </a:solidFill>
          <a:ln w="12700">
            <a:solidFill>
              <a:srgbClr val="FB7185">
                <a:alpha val="65000"/>
              </a:srgbClr>
            </a:solidFill>
            <a:prstDash val="solid"/>
          </a:ln>
        </p:spPr>
      </p:sp>
      <p:sp>
        <p:nvSpPr>
          <p:cNvPr id="11" name="Text 9"/>
          <p:cNvSpPr txBox="1"/>
          <p:nvPr/>
        </p:nvSpPr>
        <p:spPr>
          <a:xfrm>
            <a:off x="822960" y="2999232"/>
            <a:ext cx="512064" cy="512064"/>
          </a:xfrm>
          <a:prstGeom prst="rect">
            <a:avLst/>
          </a:prstGeom>
          <a:noFill/>
          <a:ln/>
        </p:spPr>
        <p:txBody>
          <a:bodyPr wrap="square" lIns="0" tIns="0" rIns="0" bIns="0" rtlCol="0" anchor="ctr"/>
          <a:lstStyle/>
          <a:p>
            <a:pPr algn="ctr" indent="0" marL="0">
              <a:buNone/>
            </a:pPr>
            <a:r>
              <a:rPr lang="en-US" sz="1500" b="1" dirty="0">
                <a:solidFill>
                  <a:srgbClr val="EEF2FB"/>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1508760" y="2916936"/>
            <a:ext cx="3337560" cy="365760"/>
          </a:xfrm>
          <a:prstGeom prst="rect">
            <a:avLst/>
          </a:prstGeom>
          <a:noFill/>
          <a:ln/>
        </p:spPr>
        <p:txBody>
          <a:bodyPr wrap="square" lIns="0" tIns="0" rIns="0" bIns="0" rtlCol="0" anchor="ctr"/>
          <a:lstStyle/>
          <a:p>
            <a:pPr indent="0" marL="0">
              <a:buNone/>
            </a:pPr>
            <a:r>
              <a:rPr lang="en-US" sz="1600" b="1" dirty="0">
                <a:solidFill>
                  <a:srgbClr val="EEF2FB"/>
                </a:solidFill>
                <a:latin typeface="Arial" pitchFamily="34" charset="0"/>
                <a:ea typeface="Arial" pitchFamily="34" charset="-122"/>
                <a:cs typeface="Arial" pitchFamily="34" charset="-120"/>
              </a:rPr>
              <a:t>Hallucinations</a:t>
            </a:r>
            <a:endParaRPr lang="en-US" sz="1600" dirty="0"/>
          </a:p>
        </p:txBody>
      </p:sp>
      <p:sp>
        <p:nvSpPr>
          <p:cNvPr id="13" name="Text 11"/>
          <p:cNvSpPr txBox="1"/>
          <p:nvPr/>
        </p:nvSpPr>
        <p:spPr>
          <a:xfrm>
            <a:off x="1508760" y="3273552"/>
            <a:ext cx="9811512" cy="365760"/>
          </a:xfrm>
          <a:prstGeom prst="rect">
            <a:avLst/>
          </a:prstGeom>
          <a:noFill/>
          <a:ln/>
        </p:spPr>
        <p:txBody>
          <a:bodyPr wrap="square" lIns="0" tIns="0" rIns="0" bIns="0" rtlCol="0" anchor="t"/>
          <a:lstStyle/>
          <a:p>
            <a:pPr indent="0" marL="0">
              <a:buNone/>
            </a:pPr>
            <a:r>
              <a:rPr lang="en-US" sz="1400" dirty="0">
                <a:solidFill>
                  <a:srgbClr val="A8B3CC"/>
                </a:solidFill>
                <a:latin typeface="Calibri" pitchFamily="34" charset="0"/>
                <a:ea typeface="Calibri" pitchFamily="34" charset="-122"/>
                <a:cs typeface="Calibri" pitchFamily="34" charset="-120"/>
              </a:rPr>
              <a:t>When it errs it rarely signals doubt. It delivers completely false information with absolute confidence.</a:t>
            </a:r>
            <a:endParaRPr lang="en-US" sz="1400" dirty="0"/>
          </a:p>
        </p:txBody>
      </p:sp>
      <p:sp>
        <p:nvSpPr>
          <p:cNvPr id="14" name="Shape 12"/>
          <p:cNvSpPr/>
          <p:nvPr/>
        </p:nvSpPr>
        <p:spPr>
          <a:xfrm>
            <a:off x="548640" y="3913632"/>
            <a:ext cx="11091672" cy="1024128"/>
          </a:xfrm>
          <a:prstGeom prst="roundRect">
            <a:avLst>
              <a:gd name="adj" fmla="val 8929"/>
            </a:avLst>
          </a:prstGeom>
          <a:solidFill>
            <a:srgbClr val="121A33"/>
          </a:solidFill>
          <a:ln w="9525">
            <a:solidFill>
              <a:srgbClr val="FB7185">
                <a:alpha val="35000"/>
              </a:srgbClr>
            </a:solidFill>
            <a:prstDash val="solid"/>
          </a:ln>
        </p:spPr>
      </p:sp>
      <p:sp>
        <p:nvSpPr>
          <p:cNvPr id="15" name="Shape 13"/>
          <p:cNvSpPr/>
          <p:nvPr/>
        </p:nvSpPr>
        <p:spPr>
          <a:xfrm>
            <a:off x="822960" y="4169664"/>
            <a:ext cx="512064" cy="512064"/>
          </a:xfrm>
          <a:prstGeom prst="ellipse">
            <a:avLst/>
          </a:prstGeom>
          <a:solidFill>
            <a:srgbClr val="FB7185">
              <a:alpha val="22000"/>
            </a:srgbClr>
          </a:solidFill>
          <a:ln w="12700">
            <a:solidFill>
              <a:srgbClr val="FB7185">
                <a:alpha val="65000"/>
              </a:srgbClr>
            </a:solidFill>
            <a:prstDash val="solid"/>
          </a:ln>
        </p:spPr>
      </p:sp>
      <p:sp>
        <p:nvSpPr>
          <p:cNvPr id="16" name="Text 14"/>
          <p:cNvSpPr txBox="1"/>
          <p:nvPr/>
        </p:nvSpPr>
        <p:spPr>
          <a:xfrm>
            <a:off x="822960" y="4169664"/>
            <a:ext cx="512064" cy="512064"/>
          </a:xfrm>
          <a:prstGeom prst="rect">
            <a:avLst/>
          </a:prstGeom>
          <a:noFill/>
          <a:ln/>
        </p:spPr>
        <p:txBody>
          <a:bodyPr wrap="square" lIns="0" tIns="0" rIns="0" bIns="0" rtlCol="0" anchor="ctr"/>
          <a:lstStyle/>
          <a:p>
            <a:pPr algn="ctr" indent="0" marL="0">
              <a:buNone/>
            </a:pPr>
            <a:r>
              <a:rPr lang="en-US" sz="1500" b="1" dirty="0">
                <a:solidFill>
                  <a:srgbClr val="EEF2FB"/>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1508760" y="4087368"/>
            <a:ext cx="3337560" cy="365760"/>
          </a:xfrm>
          <a:prstGeom prst="rect">
            <a:avLst/>
          </a:prstGeom>
          <a:noFill/>
          <a:ln/>
        </p:spPr>
        <p:txBody>
          <a:bodyPr wrap="square" lIns="0" tIns="0" rIns="0" bIns="0" rtlCol="0" anchor="ctr"/>
          <a:lstStyle/>
          <a:p>
            <a:pPr indent="0" marL="0">
              <a:buNone/>
            </a:pPr>
            <a:r>
              <a:rPr lang="en-US" sz="1600" b="1" dirty="0">
                <a:solidFill>
                  <a:srgbClr val="EEF2FB"/>
                </a:solidFill>
                <a:latin typeface="Arial" pitchFamily="34" charset="0"/>
                <a:ea typeface="Arial" pitchFamily="34" charset="-122"/>
                <a:cs typeface="Arial" pitchFamily="34" charset="-120"/>
              </a:rPr>
              <a:t>Algorithmic bias</a:t>
            </a:r>
            <a:endParaRPr lang="en-US" sz="1600" dirty="0"/>
          </a:p>
        </p:txBody>
      </p:sp>
      <p:sp>
        <p:nvSpPr>
          <p:cNvPr id="18" name="Text 16"/>
          <p:cNvSpPr txBox="1"/>
          <p:nvPr/>
        </p:nvSpPr>
        <p:spPr>
          <a:xfrm>
            <a:off x="1508760" y="4443984"/>
            <a:ext cx="9811512" cy="365760"/>
          </a:xfrm>
          <a:prstGeom prst="rect">
            <a:avLst/>
          </a:prstGeom>
          <a:noFill/>
          <a:ln/>
        </p:spPr>
        <p:txBody>
          <a:bodyPr wrap="square" lIns="0" tIns="0" rIns="0" bIns="0" rtlCol="0" anchor="t"/>
          <a:lstStyle/>
          <a:p>
            <a:pPr indent="0" marL="0">
              <a:buNone/>
            </a:pPr>
            <a:r>
              <a:rPr lang="en-US" sz="1400" dirty="0">
                <a:solidFill>
                  <a:srgbClr val="A8B3CC"/>
                </a:solidFill>
                <a:latin typeface="Calibri" pitchFamily="34" charset="0"/>
                <a:ea typeface="Calibri" pitchFamily="34" charset="-122"/>
                <a:cs typeface="Calibri" pitchFamily="34" charset="-120"/>
              </a:rPr>
              <a:t>Biased hiring records or loan approvals get absorbed and amplified. Garbage in, garbage out.</a:t>
            </a:r>
            <a:endParaRPr lang="en-US" sz="1400" dirty="0"/>
          </a:p>
        </p:txBody>
      </p:sp>
      <p:sp>
        <p:nvSpPr>
          <p:cNvPr id="19" name="Shape 17"/>
          <p:cNvSpPr/>
          <p:nvPr/>
        </p:nvSpPr>
        <p:spPr>
          <a:xfrm>
            <a:off x="548640" y="5084064"/>
            <a:ext cx="11091672" cy="1024128"/>
          </a:xfrm>
          <a:prstGeom prst="roundRect">
            <a:avLst>
              <a:gd name="adj" fmla="val 8929"/>
            </a:avLst>
          </a:prstGeom>
          <a:solidFill>
            <a:srgbClr val="121A33"/>
          </a:solidFill>
          <a:ln w="9525">
            <a:solidFill>
              <a:srgbClr val="FB7185">
                <a:alpha val="35000"/>
              </a:srgbClr>
            </a:solidFill>
            <a:prstDash val="solid"/>
          </a:ln>
        </p:spPr>
      </p:sp>
      <p:sp>
        <p:nvSpPr>
          <p:cNvPr id="20" name="Shape 18"/>
          <p:cNvSpPr/>
          <p:nvPr/>
        </p:nvSpPr>
        <p:spPr>
          <a:xfrm>
            <a:off x="822960" y="5340096"/>
            <a:ext cx="512064" cy="512064"/>
          </a:xfrm>
          <a:prstGeom prst="ellipse">
            <a:avLst/>
          </a:prstGeom>
          <a:solidFill>
            <a:srgbClr val="FB7185">
              <a:alpha val="22000"/>
            </a:srgbClr>
          </a:solidFill>
          <a:ln w="12700">
            <a:solidFill>
              <a:srgbClr val="FB7185">
                <a:alpha val="65000"/>
              </a:srgbClr>
            </a:solidFill>
            <a:prstDash val="solid"/>
          </a:ln>
        </p:spPr>
      </p:sp>
      <p:sp>
        <p:nvSpPr>
          <p:cNvPr id="21" name="Text 19"/>
          <p:cNvSpPr txBox="1"/>
          <p:nvPr/>
        </p:nvSpPr>
        <p:spPr>
          <a:xfrm>
            <a:off x="822960" y="5340096"/>
            <a:ext cx="512064" cy="512064"/>
          </a:xfrm>
          <a:prstGeom prst="rect">
            <a:avLst/>
          </a:prstGeom>
          <a:noFill/>
          <a:ln/>
        </p:spPr>
        <p:txBody>
          <a:bodyPr wrap="square" lIns="0" tIns="0" rIns="0" bIns="0" rtlCol="0" anchor="ctr"/>
          <a:lstStyle/>
          <a:p>
            <a:pPr algn="ctr" indent="0" marL="0">
              <a:buNone/>
            </a:pPr>
            <a:r>
              <a:rPr lang="en-US" sz="1500" b="1" dirty="0">
                <a:solidFill>
                  <a:srgbClr val="EEF2FB"/>
                </a:solidFill>
                <a:latin typeface="Arial" pitchFamily="34" charset="0"/>
                <a:ea typeface="Arial" pitchFamily="34" charset="-122"/>
                <a:cs typeface="Arial" pitchFamily="34" charset="-120"/>
              </a:rPr>
              <a:t>4</a:t>
            </a:r>
            <a:endParaRPr lang="en-US" sz="1500" dirty="0"/>
          </a:p>
        </p:txBody>
      </p:sp>
      <p:sp>
        <p:nvSpPr>
          <p:cNvPr id="22" name="Text 20"/>
          <p:cNvSpPr txBox="1"/>
          <p:nvPr/>
        </p:nvSpPr>
        <p:spPr>
          <a:xfrm>
            <a:off x="1508760" y="5257800"/>
            <a:ext cx="3337560" cy="365760"/>
          </a:xfrm>
          <a:prstGeom prst="rect">
            <a:avLst/>
          </a:prstGeom>
          <a:noFill/>
          <a:ln/>
        </p:spPr>
        <p:txBody>
          <a:bodyPr wrap="square" lIns="0" tIns="0" rIns="0" bIns="0" rtlCol="0" anchor="ctr"/>
          <a:lstStyle/>
          <a:p>
            <a:pPr indent="0" marL="0">
              <a:buNone/>
            </a:pPr>
            <a:r>
              <a:rPr lang="en-US" sz="1600" b="1" dirty="0">
                <a:solidFill>
                  <a:srgbClr val="EEF2FB"/>
                </a:solidFill>
                <a:latin typeface="Arial" pitchFamily="34" charset="0"/>
                <a:ea typeface="Arial" pitchFamily="34" charset="-122"/>
                <a:cs typeface="Arial" pitchFamily="34" charset="-120"/>
              </a:rPr>
              <a:t>Accountability gap</a:t>
            </a:r>
            <a:endParaRPr lang="en-US" sz="1600" dirty="0"/>
          </a:p>
        </p:txBody>
      </p:sp>
      <p:sp>
        <p:nvSpPr>
          <p:cNvPr id="23" name="Text 21"/>
          <p:cNvSpPr txBox="1"/>
          <p:nvPr/>
        </p:nvSpPr>
        <p:spPr>
          <a:xfrm>
            <a:off x="1508760" y="5614416"/>
            <a:ext cx="9811512" cy="365760"/>
          </a:xfrm>
          <a:prstGeom prst="rect">
            <a:avLst/>
          </a:prstGeom>
          <a:noFill/>
          <a:ln/>
        </p:spPr>
        <p:txBody>
          <a:bodyPr wrap="square" lIns="0" tIns="0" rIns="0" bIns="0" rtlCol="0" anchor="t"/>
          <a:lstStyle/>
          <a:p>
            <a:pPr indent="0" marL="0">
              <a:buNone/>
            </a:pPr>
            <a:r>
              <a:rPr lang="en-US" sz="1400" dirty="0">
                <a:solidFill>
                  <a:srgbClr val="A8B3CC"/>
                </a:solidFill>
                <a:latin typeface="Calibri" pitchFamily="34" charset="0"/>
                <a:ea typeface="Calibri" pitchFamily="34" charset="-122"/>
                <a:cs typeface="Calibri" pitchFamily="34" charset="-120"/>
              </a:rPr>
              <a:t>When a costly mistake happens, who takes the blame? Human oversight and ethical boundaries are not optional.</a:t>
            </a:r>
            <a:endParaRPr lang="en-US" sz="1400" dirty="0"/>
          </a:p>
        </p:txBody>
      </p:sp>
      <p:sp>
        <p:nvSpPr>
          <p:cNvPr id="24" name="Text 22"/>
          <p:cNvSpPr txBox="1"/>
          <p:nvPr/>
        </p:nvSpPr>
        <p:spPr>
          <a:xfrm>
            <a:off x="548640" y="6263640"/>
            <a:ext cx="11091672" cy="310896"/>
          </a:xfrm>
          <a:prstGeom prst="rect">
            <a:avLst/>
          </a:prstGeom>
          <a:noFill/>
          <a:ln/>
        </p:spPr>
        <p:txBody>
          <a:bodyPr wrap="square" lIns="0" tIns="0" rIns="0" bIns="0" rtlCol="0" anchor="ctr"/>
          <a:lstStyle/>
          <a:p>
            <a:pPr indent="0" marL="0">
              <a:buNone/>
            </a:pPr>
            <a:r>
              <a:rPr lang="en-US" sz="1400" i="1" dirty="0">
                <a:solidFill>
                  <a:srgbClr val="5EEAD4"/>
                </a:solidFill>
                <a:latin typeface="Calibri" pitchFamily="34" charset="0"/>
                <a:ea typeface="Calibri" pitchFamily="34" charset="-122"/>
                <a:cs typeface="Calibri" pitchFamily="34" charset="-120"/>
              </a:rPr>
              <a:t>An exceptional calculator — not an infallible authority.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B16"/>
        </a:solidFill>
      </p:bgPr>
    </p:bg>
    <p:spTree>
      <p:nvGrpSpPr>
        <p:cNvPr id="1" name=""/>
        <p:cNvGrpSpPr/>
        <p:nvPr/>
      </p:nvGrpSpPr>
      <p:grpSpPr>
        <a:xfrm>
          <a:off x="0" y="0"/>
          <a:ext cx="0" cy="0"/>
          <a:chOff x="0" y="0"/>
          <a:chExt cx="0" cy="0"/>
        </a:xfrm>
      </p:grpSpPr>
      <p:sp>
        <p:nvSpPr>
          <p:cNvPr id="2" name="Text 0"/>
          <p:cNvSpPr txBox="1"/>
          <p:nvPr/>
        </p:nvSpPr>
        <p:spPr>
          <a:xfrm>
            <a:off x="548640" y="420624"/>
            <a:ext cx="11091672" cy="274320"/>
          </a:xfrm>
          <a:prstGeom prst="rect">
            <a:avLst/>
          </a:prstGeom>
          <a:noFill/>
          <a:ln/>
        </p:spPr>
        <p:txBody>
          <a:bodyPr wrap="square" lIns="0" tIns="0" rIns="0" bIns="0" rtlCol="0" anchor="ctr"/>
          <a:lstStyle/>
          <a:p>
            <a:pPr indent="0" marL="0">
              <a:buNone/>
            </a:pPr>
            <a:r>
              <a:rPr lang="en-US" sz="1200" b="1" spc="240" kern="0" dirty="0">
                <a:solidFill>
                  <a:srgbClr val="5EEAD4"/>
                </a:solidFill>
                <a:latin typeface="Calibri" pitchFamily="34" charset="0"/>
                <a:ea typeface="Calibri" pitchFamily="34" charset="-122"/>
                <a:cs typeface="Calibri" pitchFamily="34" charset="-120"/>
              </a:rPr>
              <a:t>KNOWLEDGE CHECK</a:t>
            </a:r>
            <a:endParaRPr lang="en-US" sz="1200" dirty="0"/>
          </a:p>
        </p:txBody>
      </p:sp>
      <p:sp>
        <p:nvSpPr>
          <p:cNvPr id="3" name="Text 1"/>
          <p:cNvSpPr txBox="1"/>
          <p:nvPr/>
        </p:nvSpPr>
        <p:spPr>
          <a:xfrm>
            <a:off x="548640" y="694944"/>
            <a:ext cx="11091672" cy="713232"/>
          </a:xfrm>
          <a:prstGeom prst="rect">
            <a:avLst/>
          </a:prstGeom>
          <a:noFill/>
          <a:ln/>
        </p:spPr>
        <p:txBody>
          <a:bodyPr wrap="square" lIns="0" tIns="0" rIns="0" bIns="0" rtlCol="0" anchor="ctr"/>
          <a:lstStyle/>
          <a:p>
            <a:pPr indent="0" marL="0">
              <a:buNone/>
            </a:pPr>
            <a:r>
              <a:rPr lang="en-US" sz="3400" b="1" dirty="0">
                <a:solidFill>
                  <a:srgbClr val="EEF2FB"/>
                </a:solidFill>
                <a:latin typeface="Arial" pitchFamily="34" charset="0"/>
                <a:ea typeface="Arial" pitchFamily="34" charset="-122"/>
                <a:cs typeface="Arial" pitchFamily="34" charset="-120"/>
              </a:rPr>
              <a:t>AI Fundamentals Quiz</a:t>
            </a:r>
            <a:endParaRPr lang="en-US" sz="3400" dirty="0"/>
          </a:p>
        </p:txBody>
      </p:sp>
      <p:sp>
        <p:nvSpPr>
          <p:cNvPr id="4" name="Shape 2"/>
          <p:cNvSpPr/>
          <p:nvPr/>
        </p:nvSpPr>
        <p:spPr>
          <a:xfrm>
            <a:off x="548640" y="1627632"/>
            <a:ext cx="11091672" cy="2176272"/>
          </a:xfrm>
          <a:prstGeom prst="roundRect">
            <a:avLst>
              <a:gd name="adj" fmla="val 5042"/>
            </a:avLst>
          </a:prstGeom>
          <a:solidFill>
            <a:srgbClr val="121A33"/>
          </a:solidFill>
          <a:ln w="9525">
            <a:solidFill>
              <a:srgbClr val="818CF8">
                <a:alpha val="45000"/>
              </a:srgbClr>
            </a:solidFill>
            <a:prstDash val="solid"/>
          </a:ln>
        </p:spPr>
      </p:sp>
      <p:sp>
        <p:nvSpPr>
          <p:cNvPr id="5" name="Shape 3"/>
          <p:cNvSpPr/>
          <p:nvPr/>
        </p:nvSpPr>
        <p:spPr>
          <a:xfrm>
            <a:off x="822960" y="1865376"/>
            <a:ext cx="402336" cy="402336"/>
          </a:xfrm>
          <a:prstGeom prst="roundRect">
            <a:avLst>
              <a:gd name="adj" fmla="val 22727"/>
            </a:avLst>
          </a:prstGeom>
          <a:solidFill>
            <a:srgbClr val="818CF8">
              <a:alpha val="25000"/>
            </a:srgbClr>
          </a:solidFill>
          <a:ln w="12700">
            <a:solidFill>
              <a:srgbClr val="818CF8">
                <a:alpha val="60000"/>
              </a:srgbClr>
            </a:solidFill>
            <a:prstDash val="solid"/>
          </a:ln>
        </p:spPr>
      </p:sp>
      <p:sp>
        <p:nvSpPr>
          <p:cNvPr id="6" name="Text 4"/>
          <p:cNvSpPr txBox="1"/>
          <p:nvPr/>
        </p:nvSpPr>
        <p:spPr>
          <a:xfrm>
            <a:off x="822960" y="1865376"/>
            <a:ext cx="402336" cy="402336"/>
          </a:xfrm>
          <a:prstGeom prst="rect">
            <a:avLst/>
          </a:prstGeom>
          <a:noFill/>
          <a:ln/>
        </p:spPr>
        <p:txBody>
          <a:bodyPr wrap="square" lIns="0" tIns="0" rIns="0" bIns="0" rtlCol="0" anchor="ctr"/>
          <a:lstStyle/>
          <a:p>
            <a:pPr algn="ctr" indent="0" marL="0">
              <a:buNone/>
            </a:pPr>
            <a:r>
              <a:rPr lang="en-US" sz="1100" b="1" dirty="0">
                <a:solidFill>
                  <a:srgbClr val="EEF2FB"/>
                </a:solidFill>
                <a:latin typeface="Arial" pitchFamily="34" charset="0"/>
                <a:ea typeface="Arial" pitchFamily="34" charset="-122"/>
                <a:cs typeface="Arial" pitchFamily="34" charset="-120"/>
              </a:rPr>
              <a:t>Q1</a:t>
            </a:r>
            <a:endParaRPr lang="en-US" sz="1100" dirty="0"/>
          </a:p>
        </p:txBody>
      </p:sp>
      <p:sp>
        <p:nvSpPr>
          <p:cNvPr id="7" name="Text 5"/>
          <p:cNvSpPr txBox="1"/>
          <p:nvPr/>
        </p:nvSpPr>
        <p:spPr>
          <a:xfrm>
            <a:off x="1389888" y="1847088"/>
            <a:ext cx="9902952" cy="438912"/>
          </a:xfrm>
          <a:prstGeom prst="rect">
            <a:avLst/>
          </a:prstGeom>
          <a:noFill/>
          <a:ln/>
        </p:spPr>
        <p:txBody>
          <a:bodyPr wrap="square" lIns="0" tIns="0" rIns="0" bIns="0" rtlCol="0" anchor="ctr"/>
          <a:lstStyle/>
          <a:p>
            <a:pPr indent="0" marL="0">
              <a:buNone/>
            </a:pPr>
            <a:r>
              <a:rPr lang="en-US" sz="1600" b="1" dirty="0">
                <a:solidFill>
                  <a:srgbClr val="EEF2FB"/>
                </a:solidFill>
                <a:latin typeface="Arial" pitchFamily="34" charset="0"/>
                <a:ea typeface="Arial" pitchFamily="34" charset="-122"/>
                <a:cs typeface="Arial" pitchFamily="34" charset="-120"/>
              </a:rPr>
              <a:t>How does artificial intelligence fundamentally differ from traditional software?</a:t>
            </a:r>
            <a:endParaRPr lang="en-US" sz="1600" dirty="0"/>
          </a:p>
        </p:txBody>
      </p:sp>
      <p:sp>
        <p:nvSpPr>
          <p:cNvPr id="8" name="Text 6"/>
          <p:cNvSpPr txBox="1"/>
          <p:nvPr/>
        </p:nvSpPr>
        <p:spPr>
          <a:xfrm>
            <a:off x="1097280" y="2432304"/>
            <a:ext cx="4978908" cy="585216"/>
          </a:xfrm>
          <a:prstGeom prst="rect">
            <a:avLst/>
          </a:prstGeom>
          <a:noFill/>
          <a:ln/>
        </p:spPr>
        <p:txBody>
          <a:bodyPr wrap="square" lIns="0" tIns="0" rIns="0" bIns="0" rtlCol="0" anchor="ctr"/>
          <a:lstStyle/>
          <a:p>
            <a:pPr indent="0" marL="0">
              <a:lnSpc>
                <a:spcPct val="110000"/>
              </a:lnSpc>
              <a:buNone/>
            </a:pPr>
            <a:r>
              <a:rPr lang="en-US" sz="1350" b="1" dirty="0">
                <a:solidFill>
                  <a:srgbClr val="5EEAD4"/>
                </a:solidFill>
                <a:latin typeface="Calibri" pitchFamily="34" charset="0"/>
                <a:ea typeface="Calibri" pitchFamily="34" charset="-122"/>
                <a:cs typeface="Calibri" pitchFamily="34" charset="-120"/>
              </a:rPr>
              <a:t>A  </a:t>
            </a:r>
            <a:pPr indent="0" marL="0">
              <a:lnSpc>
                <a:spcPct val="110000"/>
              </a:lnSpc>
              <a:buNone/>
            </a:pPr>
            <a:r>
              <a:rPr lang="en-US" sz="1350" dirty="0">
                <a:solidFill>
                  <a:srgbClr val="A8B3CC"/>
                </a:solidFill>
                <a:latin typeface="Calibri" pitchFamily="34" charset="0"/>
                <a:ea typeface="Calibri" pitchFamily="34" charset="-122"/>
                <a:cs typeface="Calibri" pitchFamily="34" charset="-120"/>
              </a:rPr>
              <a:t>Traditional software is conscious, while AI is not</a:t>
            </a:r>
            <a:endParaRPr lang="en-US" sz="1350" dirty="0"/>
          </a:p>
        </p:txBody>
      </p:sp>
      <p:sp>
        <p:nvSpPr>
          <p:cNvPr id="9" name="Text 7"/>
          <p:cNvSpPr txBox="1"/>
          <p:nvPr/>
        </p:nvSpPr>
        <p:spPr>
          <a:xfrm>
            <a:off x="6295644" y="2432304"/>
            <a:ext cx="4978908" cy="585216"/>
          </a:xfrm>
          <a:prstGeom prst="rect">
            <a:avLst/>
          </a:prstGeom>
          <a:noFill/>
          <a:ln/>
        </p:spPr>
        <p:txBody>
          <a:bodyPr wrap="square" lIns="0" tIns="0" rIns="0" bIns="0" rtlCol="0" anchor="ctr"/>
          <a:lstStyle/>
          <a:p>
            <a:pPr indent="0" marL="0">
              <a:lnSpc>
                <a:spcPct val="110000"/>
              </a:lnSpc>
              <a:buNone/>
            </a:pPr>
            <a:r>
              <a:rPr lang="en-US" sz="1350" b="1" dirty="0">
                <a:solidFill>
                  <a:srgbClr val="5EEAD4"/>
                </a:solidFill>
                <a:latin typeface="Calibri" pitchFamily="34" charset="0"/>
                <a:ea typeface="Calibri" pitchFamily="34" charset="-122"/>
                <a:cs typeface="Calibri" pitchFamily="34" charset="-120"/>
              </a:rPr>
              <a:t>B  </a:t>
            </a:r>
            <a:pPr indent="0" marL="0">
              <a:lnSpc>
                <a:spcPct val="110000"/>
              </a:lnSpc>
              <a:buNone/>
            </a:pPr>
            <a:r>
              <a:rPr lang="en-US" sz="1350" dirty="0">
                <a:solidFill>
                  <a:srgbClr val="A8B3CC"/>
                </a:solidFill>
                <a:latin typeface="Calibri" pitchFamily="34" charset="0"/>
                <a:ea typeface="Calibri" pitchFamily="34" charset="-122"/>
                <a:cs typeface="Calibri" pitchFamily="34" charset="-120"/>
              </a:rPr>
              <a:t>Traditional software follows rigid, pre-written rules, while AI finds patterns from examples</a:t>
            </a:r>
            <a:endParaRPr lang="en-US" sz="1350" dirty="0"/>
          </a:p>
        </p:txBody>
      </p:sp>
      <p:sp>
        <p:nvSpPr>
          <p:cNvPr id="10" name="Text 8"/>
          <p:cNvSpPr txBox="1"/>
          <p:nvPr/>
        </p:nvSpPr>
        <p:spPr>
          <a:xfrm>
            <a:off x="1097280" y="3072384"/>
            <a:ext cx="4978908" cy="585216"/>
          </a:xfrm>
          <a:prstGeom prst="rect">
            <a:avLst/>
          </a:prstGeom>
          <a:noFill/>
          <a:ln/>
        </p:spPr>
        <p:txBody>
          <a:bodyPr wrap="square" lIns="0" tIns="0" rIns="0" bIns="0" rtlCol="0" anchor="ctr"/>
          <a:lstStyle/>
          <a:p>
            <a:pPr indent="0" marL="0">
              <a:lnSpc>
                <a:spcPct val="110000"/>
              </a:lnSpc>
              <a:buNone/>
            </a:pPr>
            <a:r>
              <a:rPr lang="en-US" sz="1350" b="1" dirty="0">
                <a:solidFill>
                  <a:srgbClr val="5EEAD4"/>
                </a:solidFill>
                <a:latin typeface="Calibri" pitchFamily="34" charset="0"/>
                <a:ea typeface="Calibri" pitchFamily="34" charset="-122"/>
                <a:cs typeface="Calibri" pitchFamily="34" charset="-120"/>
              </a:rPr>
              <a:t>C  </a:t>
            </a:r>
            <a:pPr indent="0" marL="0">
              <a:lnSpc>
                <a:spcPct val="110000"/>
              </a:lnSpc>
              <a:buNone/>
            </a:pPr>
            <a:r>
              <a:rPr lang="en-US" sz="1350" dirty="0">
                <a:solidFill>
                  <a:srgbClr val="A8B3CC"/>
                </a:solidFill>
                <a:latin typeface="Calibri" pitchFamily="34" charset="0"/>
                <a:ea typeface="Calibri" pitchFamily="34" charset="-122"/>
                <a:cs typeface="Calibri" pitchFamily="34" charset="-120"/>
              </a:rPr>
              <a:t>AI runs without computer hardware</a:t>
            </a:r>
            <a:endParaRPr lang="en-US" sz="1350" dirty="0"/>
          </a:p>
        </p:txBody>
      </p:sp>
      <p:sp>
        <p:nvSpPr>
          <p:cNvPr id="11" name="Text 9"/>
          <p:cNvSpPr txBox="1"/>
          <p:nvPr/>
        </p:nvSpPr>
        <p:spPr>
          <a:xfrm>
            <a:off x="6295644" y="3072384"/>
            <a:ext cx="4978908" cy="585216"/>
          </a:xfrm>
          <a:prstGeom prst="rect">
            <a:avLst/>
          </a:prstGeom>
          <a:noFill/>
          <a:ln/>
        </p:spPr>
        <p:txBody>
          <a:bodyPr wrap="square" lIns="0" tIns="0" rIns="0" bIns="0" rtlCol="0" anchor="ctr"/>
          <a:lstStyle/>
          <a:p>
            <a:pPr indent="0" marL="0">
              <a:lnSpc>
                <a:spcPct val="110000"/>
              </a:lnSpc>
              <a:buNone/>
            </a:pPr>
            <a:r>
              <a:rPr lang="en-US" sz="1350" b="1" dirty="0">
                <a:solidFill>
                  <a:srgbClr val="5EEAD4"/>
                </a:solidFill>
                <a:latin typeface="Calibri" pitchFamily="34" charset="0"/>
                <a:ea typeface="Calibri" pitchFamily="34" charset="-122"/>
                <a:cs typeface="Calibri" pitchFamily="34" charset="-120"/>
              </a:rPr>
              <a:t>D  </a:t>
            </a:r>
            <a:pPr indent="0" marL="0">
              <a:lnSpc>
                <a:spcPct val="110000"/>
              </a:lnSpc>
              <a:buNone/>
            </a:pPr>
            <a:r>
              <a:rPr lang="en-US" sz="1350" dirty="0">
                <a:solidFill>
                  <a:srgbClr val="A8B3CC"/>
                </a:solidFill>
                <a:latin typeface="Calibri" pitchFamily="34" charset="0"/>
                <a:ea typeface="Calibri" pitchFamily="34" charset="-122"/>
                <a:cs typeface="Calibri" pitchFamily="34" charset="-120"/>
              </a:rPr>
              <a:t>Traditional software relies entirely on trial and error</a:t>
            </a:r>
            <a:endParaRPr lang="en-US" sz="1350" dirty="0"/>
          </a:p>
        </p:txBody>
      </p:sp>
      <p:sp>
        <p:nvSpPr>
          <p:cNvPr id="12" name="Shape 10"/>
          <p:cNvSpPr/>
          <p:nvPr/>
        </p:nvSpPr>
        <p:spPr>
          <a:xfrm>
            <a:off x="548640" y="4041648"/>
            <a:ext cx="11091672" cy="2176272"/>
          </a:xfrm>
          <a:prstGeom prst="roundRect">
            <a:avLst>
              <a:gd name="adj" fmla="val 5042"/>
            </a:avLst>
          </a:prstGeom>
          <a:solidFill>
            <a:srgbClr val="121A33"/>
          </a:solidFill>
          <a:ln w="9525">
            <a:solidFill>
              <a:srgbClr val="818CF8">
                <a:alpha val="45000"/>
              </a:srgbClr>
            </a:solidFill>
            <a:prstDash val="solid"/>
          </a:ln>
        </p:spPr>
      </p:sp>
      <p:sp>
        <p:nvSpPr>
          <p:cNvPr id="13" name="Shape 11"/>
          <p:cNvSpPr/>
          <p:nvPr/>
        </p:nvSpPr>
        <p:spPr>
          <a:xfrm>
            <a:off x="822960" y="4279392"/>
            <a:ext cx="402336" cy="402336"/>
          </a:xfrm>
          <a:prstGeom prst="roundRect">
            <a:avLst>
              <a:gd name="adj" fmla="val 22727"/>
            </a:avLst>
          </a:prstGeom>
          <a:solidFill>
            <a:srgbClr val="818CF8">
              <a:alpha val="25000"/>
            </a:srgbClr>
          </a:solidFill>
          <a:ln w="12700">
            <a:solidFill>
              <a:srgbClr val="818CF8">
                <a:alpha val="60000"/>
              </a:srgbClr>
            </a:solidFill>
            <a:prstDash val="solid"/>
          </a:ln>
        </p:spPr>
      </p:sp>
      <p:sp>
        <p:nvSpPr>
          <p:cNvPr id="14" name="Text 12"/>
          <p:cNvSpPr txBox="1"/>
          <p:nvPr/>
        </p:nvSpPr>
        <p:spPr>
          <a:xfrm>
            <a:off x="822960" y="4279392"/>
            <a:ext cx="402336" cy="402336"/>
          </a:xfrm>
          <a:prstGeom prst="rect">
            <a:avLst/>
          </a:prstGeom>
          <a:noFill/>
          <a:ln/>
        </p:spPr>
        <p:txBody>
          <a:bodyPr wrap="square" lIns="0" tIns="0" rIns="0" bIns="0" rtlCol="0" anchor="ctr"/>
          <a:lstStyle/>
          <a:p>
            <a:pPr algn="ctr" indent="0" marL="0">
              <a:buNone/>
            </a:pPr>
            <a:r>
              <a:rPr lang="en-US" sz="1100" b="1" dirty="0">
                <a:solidFill>
                  <a:srgbClr val="EEF2FB"/>
                </a:solidFill>
                <a:latin typeface="Arial" pitchFamily="34" charset="0"/>
                <a:ea typeface="Arial" pitchFamily="34" charset="-122"/>
                <a:cs typeface="Arial" pitchFamily="34" charset="-120"/>
              </a:rPr>
              <a:t>Q2</a:t>
            </a:r>
            <a:endParaRPr lang="en-US" sz="1100" dirty="0"/>
          </a:p>
        </p:txBody>
      </p:sp>
      <p:sp>
        <p:nvSpPr>
          <p:cNvPr id="15" name="Text 13"/>
          <p:cNvSpPr txBox="1"/>
          <p:nvPr/>
        </p:nvSpPr>
        <p:spPr>
          <a:xfrm>
            <a:off x="1389888" y="4261104"/>
            <a:ext cx="9902952" cy="438912"/>
          </a:xfrm>
          <a:prstGeom prst="rect">
            <a:avLst/>
          </a:prstGeom>
          <a:noFill/>
          <a:ln/>
        </p:spPr>
        <p:txBody>
          <a:bodyPr wrap="square" lIns="0" tIns="0" rIns="0" bIns="0" rtlCol="0" anchor="ctr"/>
          <a:lstStyle/>
          <a:p>
            <a:pPr indent="0" marL="0">
              <a:buNone/>
            </a:pPr>
            <a:r>
              <a:rPr lang="en-US" sz="1600" b="1" dirty="0">
                <a:solidFill>
                  <a:srgbClr val="EEF2FB"/>
                </a:solidFill>
                <a:latin typeface="Arial" pitchFamily="34" charset="0"/>
                <a:ea typeface="Arial" pitchFamily="34" charset="-122"/>
                <a:cs typeface="Arial" pitchFamily="34" charset="-120"/>
              </a:rPr>
              <a:t>What drives the learning process behind most modern AI systems?</a:t>
            </a:r>
            <a:endParaRPr lang="en-US" sz="1600" dirty="0"/>
          </a:p>
        </p:txBody>
      </p:sp>
      <p:sp>
        <p:nvSpPr>
          <p:cNvPr id="16" name="Text 14"/>
          <p:cNvSpPr txBox="1"/>
          <p:nvPr/>
        </p:nvSpPr>
        <p:spPr>
          <a:xfrm>
            <a:off x="1097280" y="4846320"/>
            <a:ext cx="4978908" cy="585216"/>
          </a:xfrm>
          <a:prstGeom prst="rect">
            <a:avLst/>
          </a:prstGeom>
          <a:noFill/>
          <a:ln/>
        </p:spPr>
        <p:txBody>
          <a:bodyPr wrap="square" lIns="0" tIns="0" rIns="0" bIns="0" rtlCol="0" anchor="ctr"/>
          <a:lstStyle/>
          <a:p>
            <a:pPr indent="0" marL="0">
              <a:lnSpc>
                <a:spcPct val="110000"/>
              </a:lnSpc>
              <a:buNone/>
            </a:pPr>
            <a:r>
              <a:rPr lang="en-US" sz="1350" b="1" dirty="0">
                <a:solidFill>
                  <a:srgbClr val="5EEAD4"/>
                </a:solidFill>
                <a:latin typeface="Calibri" pitchFamily="34" charset="0"/>
                <a:ea typeface="Calibri" pitchFamily="34" charset="-122"/>
                <a:cs typeface="Calibri" pitchFamily="34" charset="-120"/>
              </a:rPr>
              <a:t>A  </a:t>
            </a:r>
            <a:pPr indent="0" marL="0">
              <a:lnSpc>
                <a:spcPct val="110000"/>
              </a:lnSpc>
              <a:buNone/>
            </a:pPr>
            <a:r>
              <a:rPr lang="en-US" sz="1350" dirty="0">
                <a:solidFill>
                  <a:srgbClr val="A8B3CC"/>
                </a:solidFill>
                <a:latin typeface="Calibri" pitchFamily="34" charset="0"/>
                <a:ea typeface="Calibri" pitchFamily="34" charset="-122"/>
                <a:cs typeface="Calibri" pitchFamily="34" charset="-120"/>
              </a:rPr>
              <a:t>Memorizing a strict list of exceptions written by a single programmer</a:t>
            </a:r>
            <a:endParaRPr lang="en-US" sz="1350" dirty="0"/>
          </a:p>
        </p:txBody>
      </p:sp>
      <p:sp>
        <p:nvSpPr>
          <p:cNvPr id="17" name="Text 15"/>
          <p:cNvSpPr txBox="1"/>
          <p:nvPr/>
        </p:nvSpPr>
        <p:spPr>
          <a:xfrm>
            <a:off x="6295644" y="4846320"/>
            <a:ext cx="4978908" cy="585216"/>
          </a:xfrm>
          <a:prstGeom prst="rect">
            <a:avLst/>
          </a:prstGeom>
          <a:noFill/>
          <a:ln/>
        </p:spPr>
        <p:txBody>
          <a:bodyPr wrap="square" lIns="0" tIns="0" rIns="0" bIns="0" rtlCol="0" anchor="ctr"/>
          <a:lstStyle/>
          <a:p>
            <a:pPr indent="0" marL="0">
              <a:lnSpc>
                <a:spcPct val="110000"/>
              </a:lnSpc>
              <a:buNone/>
            </a:pPr>
            <a:r>
              <a:rPr lang="en-US" sz="1350" b="1" dirty="0">
                <a:solidFill>
                  <a:srgbClr val="5EEAD4"/>
                </a:solidFill>
                <a:latin typeface="Calibri" pitchFamily="34" charset="0"/>
                <a:ea typeface="Calibri" pitchFamily="34" charset="-122"/>
                <a:cs typeface="Calibri" pitchFamily="34" charset="-120"/>
              </a:rPr>
              <a:t>B  </a:t>
            </a:r>
            <a:pPr indent="0" marL="0">
              <a:lnSpc>
                <a:spcPct val="110000"/>
              </a:lnSpc>
              <a:buNone/>
            </a:pPr>
            <a:r>
              <a:rPr lang="en-US" sz="1350" dirty="0">
                <a:solidFill>
                  <a:srgbClr val="A8B3CC"/>
                </a:solidFill>
                <a:latin typeface="Calibri" pitchFamily="34" charset="0"/>
                <a:ea typeface="Calibri" pitchFamily="34" charset="-122"/>
                <a:cs typeface="Calibri" pitchFamily="34" charset="-120"/>
              </a:rPr>
              <a:t>Rapid cycles of guessing, feedback, and adjustment using large datasets</a:t>
            </a:r>
            <a:endParaRPr lang="en-US" sz="1350" dirty="0"/>
          </a:p>
        </p:txBody>
      </p:sp>
      <p:sp>
        <p:nvSpPr>
          <p:cNvPr id="18" name="Text 16"/>
          <p:cNvSpPr txBox="1"/>
          <p:nvPr/>
        </p:nvSpPr>
        <p:spPr>
          <a:xfrm>
            <a:off x="1097280" y="5486400"/>
            <a:ext cx="4978908" cy="585216"/>
          </a:xfrm>
          <a:prstGeom prst="rect">
            <a:avLst/>
          </a:prstGeom>
          <a:noFill/>
          <a:ln/>
        </p:spPr>
        <p:txBody>
          <a:bodyPr wrap="square" lIns="0" tIns="0" rIns="0" bIns="0" rtlCol="0" anchor="ctr"/>
          <a:lstStyle/>
          <a:p>
            <a:pPr indent="0" marL="0">
              <a:lnSpc>
                <a:spcPct val="110000"/>
              </a:lnSpc>
              <a:buNone/>
            </a:pPr>
            <a:r>
              <a:rPr lang="en-US" sz="1350" b="1" dirty="0">
                <a:solidFill>
                  <a:srgbClr val="5EEAD4"/>
                </a:solidFill>
                <a:latin typeface="Calibri" pitchFamily="34" charset="0"/>
                <a:ea typeface="Calibri" pitchFamily="34" charset="-122"/>
                <a:cs typeface="Calibri" pitchFamily="34" charset="-120"/>
              </a:rPr>
              <a:t>C  </a:t>
            </a:r>
            <a:pPr indent="0" marL="0">
              <a:lnSpc>
                <a:spcPct val="110000"/>
              </a:lnSpc>
              <a:buNone/>
            </a:pPr>
            <a:r>
              <a:rPr lang="en-US" sz="1350" dirty="0">
                <a:solidFill>
                  <a:srgbClr val="A8B3CC"/>
                </a:solidFill>
                <a:latin typeface="Calibri" pitchFamily="34" charset="0"/>
                <a:ea typeface="Calibri" pitchFamily="34" charset="-122"/>
                <a:cs typeface="Calibri" pitchFamily="34" charset="-120"/>
              </a:rPr>
              <a:t>Independent thinking and self-awareness</a:t>
            </a:r>
            <a:endParaRPr lang="en-US" sz="1350" dirty="0"/>
          </a:p>
        </p:txBody>
      </p:sp>
      <p:sp>
        <p:nvSpPr>
          <p:cNvPr id="19" name="Text 17"/>
          <p:cNvSpPr txBox="1"/>
          <p:nvPr/>
        </p:nvSpPr>
        <p:spPr>
          <a:xfrm>
            <a:off x="6295644" y="5486400"/>
            <a:ext cx="4978908" cy="585216"/>
          </a:xfrm>
          <a:prstGeom prst="rect">
            <a:avLst/>
          </a:prstGeom>
          <a:noFill/>
          <a:ln/>
        </p:spPr>
        <p:txBody>
          <a:bodyPr wrap="square" lIns="0" tIns="0" rIns="0" bIns="0" rtlCol="0" anchor="ctr"/>
          <a:lstStyle/>
          <a:p>
            <a:pPr indent="0" marL="0">
              <a:lnSpc>
                <a:spcPct val="110000"/>
              </a:lnSpc>
              <a:buNone/>
            </a:pPr>
            <a:r>
              <a:rPr lang="en-US" sz="1350" b="1" dirty="0">
                <a:solidFill>
                  <a:srgbClr val="5EEAD4"/>
                </a:solidFill>
                <a:latin typeface="Calibri" pitchFamily="34" charset="0"/>
                <a:ea typeface="Calibri" pitchFamily="34" charset="-122"/>
                <a:cs typeface="Calibri" pitchFamily="34" charset="-120"/>
              </a:rPr>
              <a:t>D  </a:t>
            </a:r>
            <a:pPr indent="0" marL="0">
              <a:lnSpc>
                <a:spcPct val="110000"/>
              </a:lnSpc>
              <a:buNone/>
            </a:pPr>
            <a:r>
              <a:rPr lang="en-US" sz="1350" dirty="0">
                <a:solidFill>
                  <a:srgbClr val="A8B3CC"/>
                </a:solidFill>
                <a:latin typeface="Calibri" pitchFamily="34" charset="0"/>
                <a:ea typeface="Calibri" pitchFamily="34" charset="-122"/>
                <a:cs typeface="Calibri" pitchFamily="34" charset="-120"/>
              </a:rPr>
              <a:t>Copying human emotions directly from video feeds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B16"/>
        </a:solidFill>
      </p:bgPr>
    </p:bg>
    <p:spTree>
      <p:nvGrpSpPr>
        <p:cNvPr id="1" name=""/>
        <p:cNvGrpSpPr/>
        <p:nvPr/>
      </p:nvGrpSpPr>
      <p:grpSpPr>
        <a:xfrm>
          <a:off x="0" y="0"/>
          <a:ext cx="0" cy="0"/>
          <a:chOff x="0" y="0"/>
          <a:chExt cx="0" cy="0"/>
        </a:xfrm>
      </p:grpSpPr>
      <p:sp>
        <p:nvSpPr>
          <p:cNvPr id="2" name="Text 0"/>
          <p:cNvSpPr txBox="1"/>
          <p:nvPr/>
        </p:nvSpPr>
        <p:spPr>
          <a:xfrm>
            <a:off x="548640" y="420624"/>
            <a:ext cx="11091672" cy="274320"/>
          </a:xfrm>
          <a:prstGeom prst="rect">
            <a:avLst/>
          </a:prstGeom>
          <a:noFill/>
          <a:ln/>
        </p:spPr>
        <p:txBody>
          <a:bodyPr wrap="square" lIns="0" tIns="0" rIns="0" bIns="0" rtlCol="0" anchor="ctr"/>
          <a:lstStyle/>
          <a:p>
            <a:pPr indent="0" marL="0">
              <a:buNone/>
            </a:pPr>
            <a:r>
              <a:rPr lang="en-US" sz="1200" b="1" spc="240" kern="0" dirty="0">
                <a:solidFill>
                  <a:srgbClr val="5EEAD4"/>
                </a:solidFill>
                <a:latin typeface="Calibri" pitchFamily="34" charset="0"/>
                <a:ea typeface="Calibri" pitchFamily="34" charset="-122"/>
                <a:cs typeface="Calibri" pitchFamily="34" charset="-120"/>
              </a:rPr>
              <a:t>KNOWLEDGE CHECK</a:t>
            </a:r>
            <a:endParaRPr lang="en-US" sz="1200" dirty="0"/>
          </a:p>
        </p:txBody>
      </p:sp>
      <p:sp>
        <p:nvSpPr>
          <p:cNvPr id="3" name="Text 1"/>
          <p:cNvSpPr txBox="1"/>
          <p:nvPr/>
        </p:nvSpPr>
        <p:spPr>
          <a:xfrm>
            <a:off x="548640" y="694944"/>
            <a:ext cx="11091672" cy="713232"/>
          </a:xfrm>
          <a:prstGeom prst="rect">
            <a:avLst/>
          </a:prstGeom>
          <a:noFill/>
          <a:ln/>
        </p:spPr>
        <p:txBody>
          <a:bodyPr wrap="square" lIns="0" tIns="0" rIns="0" bIns="0" rtlCol="0" anchor="ctr"/>
          <a:lstStyle/>
          <a:p>
            <a:pPr indent="0" marL="0">
              <a:buNone/>
            </a:pPr>
            <a:r>
              <a:rPr lang="en-US" sz="3400" b="1" dirty="0">
                <a:solidFill>
                  <a:srgbClr val="EEF2FB"/>
                </a:solidFill>
                <a:latin typeface="Arial" pitchFamily="34" charset="0"/>
                <a:ea typeface="Arial" pitchFamily="34" charset="-122"/>
                <a:cs typeface="Arial" pitchFamily="34" charset="-120"/>
              </a:rPr>
              <a:t>AI Fundamentals Quiz (continued)</a:t>
            </a:r>
            <a:endParaRPr lang="en-US" sz="3400" dirty="0"/>
          </a:p>
        </p:txBody>
      </p:sp>
      <p:sp>
        <p:nvSpPr>
          <p:cNvPr id="4" name="Shape 2"/>
          <p:cNvSpPr/>
          <p:nvPr/>
        </p:nvSpPr>
        <p:spPr>
          <a:xfrm>
            <a:off x="548640" y="1627632"/>
            <a:ext cx="11091672" cy="2176272"/>
          </a:xfrm>
          <a:prstGeom prst="roundRect">
            <a:avLst>
              <a:gd name="adj" fmla="val 5042"/>
            </a:avLst>
          </a:prstGeom>
          <a:solidFill>
            <a:srgbClr val="121A33"/>
          </a:solidFill>
          <a:ln w="9525">
            <a:solidFill>
              <a:srgbClr val="818CF8">
                <a:alpha val="45000"/>
              </a:srgbClr>
            </a:solidFill>
            <a:prstDash val="solid"/>
          </a:ln>
        </p:spPr>
      </p:sp>
      <p:sp>
        <p:nvSpPr>
          <p:cNvPr id="5" name="Shape 3"/>
          <p:cNvSpPr/>
          <p:nvPr/>
        </p:nvSpPr>
        <p:spPr>
          <a:xfrm>
            <a:off x="822960" y="1865376"/>
            <a:ext cx="402336" cy="402336"/>
          </a:xfrm>
          <a:prstGeom prst="roundRect">
            <a:avLst>
              <a:gd name="adj" fmla="val 22727"/>
            </a:avLst>
          </a:prstGeom>
          <a:solidFill>
            <a:srgbClr val="818CF8">
              <a:alpha val="25000"/>
            </a:srgbClr>
          </a:solidFill>
          <a:ln w="12700">
            <a:solidFill>
              <a:srgbClr val="818CF8">
                <a:alpha val="60000"/>
              </a:srgbClr>
            </a:solidFill>
            <a:prstDash val="solid"/>
          </a:ln>
        </p:spPr>
      </p:sp>
      <p:sp>
        <p:nvSpPr>
          <p:cNvPr id="6" name="Text 4"/>
          <p:cNvSpPr txBox="1"/>
          <p:nvPr/>
        </p:nvSpPr>
        <p:spPr>
          <a:xfrm>
            <a:off x="822960" y="1865376"/>
            <a:ext cx="402336" cy="402336"/>
          </a:xfrm>
          <a:prstGeom prst="rect">
            <a:avLst/>
          </a:prstGeom>
          <a:noFill/>
          <a:ln/>
        </p:spPr>
        <p:txBody>
          <a:bodyPr wrap="square" lIns="0" tIns="0" rIns="0" bIns="0" rtlCol="0" anchor="ctr"/>
          <a:lstStyle/>
          <a:p>
            <a:pPr algn="ctr" indent="0" marL="0">
              <a:buNone/>
            </a:pPr>
            <a:r>
              <a:rPr lang="en-US" sz="1100" b="1" dirty="0">
                <a:solidFill>
                  <a:srgbClr val="EEF2FB"/>
                </a:solidFill>
                <a:latin typeface="Arial" pitchFamily="34" charset="0"/>
                <a:ea typeface="Arial" pitchFamily="34" charset="-122"/>
                <a:cs typeface="Arial" pitchFamily="34" charset="-120"/>
              </a:rPr>
              <a:t>Q3</a:t>
            </a:r>
            <a:endParaRPr lang="en-US" sz="1100" dirty="0"/>
          </a:p>
        </p:txBody>
      </p:sp>
      <p:sp>
        <p:nvSpPr>
          <p:cNvPr id="7" name="Text 5"/>
          <p:cNvSpPr txBox="1"/>
          <p:nvPr/>
        </p:nvSpPr>
        <p:spPr>
          <a:xfrm>
            <a:off x="1389888" y="1847088"/>
            <a:ext cx="9902952" cy="438912"/>
          </a:xfrm>
          <a:prstGeom prst="rect">
            <a:avLst/>
          </a:prstGeom>
          <a:noFill/>
          <a:ln/>
        </p:spPr>
        <p:txBody>
          <a:bodyPr wrap="square" lIns="0" tIns="0" rIns="0" bIns="0" rtlCol="0" anchor="ctr"/>
          <a:lstStyle/>
          <a:p>
            <a:pPr indent="0" marL="0">
              <a:buNone/>
            </a:pPr>
            <a:r>
              <a:rPr lang="en-US" sz="1600" b="1" dirty="0">
                <a:solidFill>
                  <a:srgbClr val="EEF2FB"/>
                </a:solidFill>
                <a:latin typeface="Arial" pitchFamily="34" charset="0"/>
                <a:ea typeface="Arial" pitchFamily="34" charset="-122"/>
                <a:cs typeface="Arial" pitchFamily="34" charset="-120"/>
              </a:rPr>
              <a:t>How is AI primarily used in fields like healthcare and navigation today?</a:t>
            </a:r>
            <a:endParaRPr lang="en-US" sz="1600" dirty="0"/>
          </a:p>
        </p:txBody>
      </p:sp>
      <p:sp>
        <p:nvSpPr>
          <p:cNvPr id="8" name="Text 6"/>
          <p:cNvSpPr txBox="1"/>
          <p:nvPr/>
        </p:nvSpPr>
        <p:spPr>
          <a:xfrm>
            <a:off x="1097280" y="2432304"/>
            <a:ext cx="4978908" cy="585216"/>
          </a:xfrm>
          <a:prstGeom prst="rect">
            <a:avLst/>
          </a:prstGeom>
          <a:noFill/>
          <a:ln/>
        </p:spPr>
        <p:txBody>
          <a:bodyPr wrap="square" lIns="0" tIns="0" rIns="0" bIns="0" rtlCol="0" anchor="ctr"/>
          <a:lstStyle/>
          <a:p>
            <a:pPr indent="0" marL="0">
              <a:lnSpc>
                <a:spcPct val="110000"/>
              </a:lnSpc>
              <a:buNone/>
            </a:pPr>
            <a:r>
              <a:rPr lang="en-US" sz="1350" b="1" dirty="0">
                <a:solidFill>
                  <a:srgbClr val="5EEAD4"/>
                </a:solidFill>
                <a:latin typeface="Calibri" pitchFamily="34" charset="0"/>
                <a:ea typeface="Calibri" pitchFamily="34" charset="-122"/>
                <a:cs typeface="Calibri" pitchFamily="34" charset="-120"/>
              </a:rPr>
              <a:t>A  </a:t>
            </a:r>
            <a:pPr indent="0" marL="0">
              <a:lnSpc>
                <a:spcPct val="110000"/>
              </a:lnSpc>
              <a:buNone/>
            </a:pPr>
            <a:r>
              <a:rPr lang="en-US" sz="1350" dirty="0">
                <a:solidFill>
                  <a:srgbClr val="A8B3CC"/>
                </a:solidFill>
                <a:latin typeface="Calibri" pitchFamily="34" charset="0"/>
                <a:ea typeface="Calibri" pitchFamily="34" charset="-122"/>
                <a:cs typeface="Calibri" pitchFamily="34" charset="-120"/>
              </a:rPr>
              <a:t>Replacing entire human teams and taking full legal responsibility</a:t>
            </a:r>
            <a:endParaRPr lang="en-US" sz="1350" dirty="0"/>
          </a:p>
        </p:txBody>
      </p:sp>
      <p:sp>
        <p:nvSpPr>
          <p:cNvPr id="9" name="Text 7"/>
          <p:cNvSpPr txBox="1"/>
          <p:nvPr/>
        </p:nvSpPr>
        <p:spPr>
          <a:xfrm>
            <a:off x="6295644" y="2432304"/>
            <a:ext cx="4978908" cy="585216"/>
          </a:xfrm>
          <a:prstGeom prst="rect">
            <a:avLst/>
          </a:prstGeom>
          <a:noFill/>
          <a:ln/>
        </p:spPr>
        <p:txBody>
          <a:bodyPr wrap="square" lIns="0" tIns="0" rIns="0" bIns="0" rtlCol="0" anchor="ctr"/>
          <a:lstStyle/>
          <a:p>
            <a:pPr indent="0" marL="0">
              <a:lnSpc>
                <a:spcPct val="110000"/>
              </a:lnSpc>
              <a:buNone/>
            </a:pPr>
            <a:r>
              <a:rPr lang="en-US" sz="1350" b="1" dirty="0">
                <a:solidFill>
                  <a:srgbClr val="5EEAD4"/>
                </a:solidFill>
                <a:latin typeface="Calibri" pitchFamily="34" charset="0"/>
                <a:ea typeface="Calibri" pitchFamily="34" charset="-122"/>
                <a:cs typeface="Calibri" pitchFamily="34" charset="-120"/>
              </a:rPr>
              <a:t>B  </a:t>
            </a:r>
            <a:pPr indent="0" marL="0">
              <a:lnSpc>
                <a:spcPct val="110000"/>
              </a:lnSpc>
              <a:buNone/>
            </a:pPr>
            <a:r>
              <a:rPr lang="en-US" sz="1350" dirty="0">
                <a:solidFill>
                  <a:srgbClr val="A8B3CC"/>
                </a:solidFill>
                <a:latin typeface="Calibri" pitchFamily="34" charset="0"/>
                <a:ea typeface="Calibri" pitchFamily="34" charset="-122"/>
                <a:cs typeface="Calibri" pitchFamily="34" charset="-120"/>
              </a:rPr>
              <a:t>Writing government policy without human review</a:t>
            </a:r>
            <a:endParaRPr lang="en-US" sz="1350" dirty="0"/>
          </a:p>
        </p:txBody>
      </p:sp>
      <p:sp>
        <p:nvSpPr>
          <p:cNvPr id="10" name="Text 8"/>
          <p:cNvSpPr txBox="1"/>
          <p:nvPr/>
        </p:nvSpPr>
        <p:spPr>
          <a:xfrm>
            <a:off x="1097280" y="3072384"/>
            <a:ext cx="4978908" cy="585216"/>
          </a:xfrm>
          <a:prstGeom prst="rect">
            <a:avLst/>
          </a:prstGeom>
          <a:noFill/>
          <a:ln/>
        </p:spPr>
        <p:txBody>
          <a:bodyPr wrap="square" lIns="0" tIns="0" rIns="0" bIns="0" rtlCol="0" anchor="ctr"/>
          <a:lstStyle/>
          <a:p>
            <a:pPr indent="0" marL="0">
              <a:lnSpc>
                <a:spcPct val="110000"/>
              </a:lnSpc>
              <a:buNone/>
            </a:pPr>
            <a:r>
              <a:rPr lang="en-US" sz="1350" b="1" dirty="0">
                <a:solidFill>
                  <a:srgbClr val="5EEAD4"/>
                </a:solidFill>
                <a:latin typeface="Calibri" pitchFamily="34" charset="0"/>
                <a:ea typeface="Calibri" pitchFamily="34" charset="-122"/>
                <a:cs typeface="Calibri" pitchFamily="34" charset="-120"/>
              </a:rPr>
              <a:t>C  </a:t>
            </a:r>
            <a:pPr indent="0" marL="0">
              <a:lnSpc>
                <a:spcPct val="110000"/>
              </a:lnSpc>
              <a:buNone/>
            </a:pPr>
            <a:r>
              <a:rPr lang="en-US" sz="1350" dirty="0">
                <a:solidFill>
                  <a:srgbClr val="A8B3CC"/>
                </a:solidFill>
                <a:latin typeface="Calibri" pitchFamily="34" charset="0"/>
                <a:ea typeface="Calibri" pitchFamily="34" charset="-122"/>
                <a:cs typeface="Calibri" pitchFamily="34" charset="-120"/>
              </a:rPr>
              <a:t>Handling heavy, repetitive data analysis so people can make faster decisions</a:t>
            </a:r>
            <a:endParaRPr lang="en-US" sz="1350" dirty="0"/>
          </a:p>
        </p:txBody>
      </p:sp>
      <p:sp>
        <p:nvSpPr>
          <p:cNvPr id="11" name="Text 9"/>
          <p:cNvSpPr txBox="1"/>
          <p:nvPr/>
        </p:nvSpPr>
        <p:spPr>
          <a:xfrm>
            <a:off x="6295644" y="3072384"/>
            <a:ext cx="4978908" cy="585216"/>
          </a:xfrm>
          <a:prstGeom prst="rect">
            <a:avLst/>
          </a:prstGeom>
          <a:noFill/>
          <a:ln/>
        </p:spPr>
        <p:txBody>
          <a:bodyPr wrap="square" lIns="0" tIns="0" rIns="0" bIns="0" rtlCol="0" anchor="ctr"/>
          <a:lstStyle/>
          <a:p>
            <a:pPr indent="0" marL="0">
              <a:lnSpc>
                <a:spcPct val="110000"/>
              </a:lnSpc>
              <a:buNone/>
            </a:pPr>
            <a:r>
              <a:rPr lang="en-US" sz="1350" b="1" dirty="0">
                <a:solidFill>
                  <a:srgbClr val="5EEAD4"/>
                </a:solidFill>
                <a:latin typeface="Calibri" pitchFamily="34" charset="0"/>
                <a:ea typeface="Calibri" pitchFamily="34" charset="-122"/>
                <a:cs typeface="Calibri" pitchFamily="34" charset="-120"/>
              </a:rPr>
              <a:t>D  </a:t>
            </a:r>
            <a:pPr indent="0" marL="0">
              <a:lnSpc>
                <a:spcPct val="110000"/>
              </a:lnSpc>
              <a:buNone/>
            </a:pPr>
            <a:r>
              <a:rPr lang="en-US" sz="1350" dirty="0">
                <a:solidFill>
                  <a:srgbClr val="A8B3CC"/>
                </a:solidFill>
                <a:latin typeface="Calibri" pitchFamily="34" charset="0"/>
                <a:ea typeface="Calibri" pitchFamily="34" charset="-122"/>
                <a:cs typeface="Calibri" pitchFamily="34" charset="-120"/>
              </a:rPr>
              <a:t>Operating solely as physical humanoid robots</a:t>
            </a:r>
            <a:endParaRPr lang="en-US" sz="1350" dirty="0"/>
          </a:p>
        </p:txBody>
      </p:sp>
      <p:sp>
        <p:nvSpPr>
          <p:cNvPr id="12" name="Shape 10"/>
          <p:cNvSpPr/>
          <p:nvPr/>
        </p:nvSpPr>
        <p:spPr>
          <a:xfrm>
            <a:off x="548640" y="4041648"/>
            <a:ext cx="11091672" cy="2176272"/>
          </a:xfrm>
          <a:prstGeom prst="roundRect">
            <a:avLst>
              <a:gd name="adj" fmla="val 5042"/>
            </a:avLst>
          </a:prstGeom>
          <a:solidFill>
            <a:srgbClr val="121A33"/>
          </a:solidFill>
          <a:ln w="9525">
            <a:solidFill>
              <a:srgbClr val="818CF8">
                <a:alpha val="45000"/>
              </a:srgbClr>
            </a:solidFill>
            <a:prstDash val="solid"/>
          </a:ln>
        </p:spPr>
      </p:sp>
      <p:sp>
        <p:nvSpPr>
          <p:cNvPr id="13" name="Shape 11"/>
          <p:cNvSpPr/>
          <p:nvPr/>
        </p:nvSpPr>
        <p:spPr>
          <a:xfrm>
            <a:off x="822960" y="4279392"/>
            <a:ext cx="402336" cy="402336"/>
          </a:xfrm>
          <a:prstGeom prst="roundRect">
            <a:avLst>
              <a:gd name="adj" fmla="val 22727"/>
            </a:avLst>
          </a:prstGeom>
          <a:solidFill>
            <a:srgbClr val="818CF8">
              <a:alpha val="25000"/>
            </a:srgbClr>
          </a:solidFill>
          <a:ln w="12700">
            <a:solidFill>
              <a:srgbClr val="818CF8">
                <a:alpha val="60000"/>
              </a:srgbClr>
            </a:solidFill>
            <a:prstDash val="solid"/>
          </a:ln>
        </p:spPr>
      </p:sp>
      <p:sp>
        <p:nvSpPr>
          <p:cNvPr id="14" name="Text 12"/>
          <p:cNvSpPr txBox="1"/>
          <p:nvPr/>
        </p:nvSpPr>
        <p:spPr>
          <a:xfrm>
            <a:off x="822960" y="4279392"/>
            <a:ext cx="402336" cy="402336"/>
          </a:xfrm>
          <a:prstGeom prst="rect">
            <a:avLst/>
          </a:prstGeom>
          <a:noFill/>
          <a:ln/>
        </p:spPr>
        <p:txBody>
          <a:bodyPr wrap="square" lIns="0" tIns="0" rIns="0" bIns="0" rtlCol="0" anchor="ctr"/>
          <a:lstStyle/>
          <a:p>
            <a:pPr algn="ctr" indent="0" marL="0">
              <a:buNone/>
            </a:pPr>
            <a:r>
              <a:rPr lang="en-US" sz="1100" b="1" dirty="0">
                <a:solidFill>
                  <a:srgbClr val="EEF2FB"/>
                </a:solidFill>
                <a:latin typeface="Arial" pitchFamily="34" charset="0"/>
                <a:ea typeface="Arial" pitchFamily="34" charset="-122"/>
                <a:cs typeface="Arial" pitchFamily="34" charset="-120"/>
              </a:rPr>
              <a:t>Q4</a:t>
            </a:r>
            <a:endParaRPr lang="en-US" sz="1100" dirty="0"/>
          </a:p>
        </p:txBody>
      </p:sp>
      <p:sp>
        <p:nvSpPr>
          <p:cNvPr id="15" name="Text 13"/>
          <p:cNvSpPr txBox="1"/>
          <p:nvPr/>
        </p:nvSpPr>
        <p:spPr>
          <a:xfrm>
            <a:off x="1389888" y="4261104"/>
            <a:ext cx="9902952" cy="438912"/>
          </a:xfrm>
          <a:prstGeom prst="rect">
            <a:avLst/>
          </a:prstGeom>
          <a:noFill/>
          <a:ln/>
        </p:spPr>
        <p:txBody>
          <a:bodyPr wrap="square" lIns="0" tIns="0" rIns="0" bIns="0" rtlCol="0" anchor="ctr"/>
          <a:lstStyle/>
          <a:p>
            <a:pPr indent="0" marL="0">
              <a:buNone/>
            </a:pPr>
            <a:r>
              <a:rPr lang="en-US" sz="1600" b="1" dirty="0">
                <a:solidFill>
                  <a:srgbClr val="EEF2FB"/>
                </a:solidFill>
                <a:latin typeface="Arial" pitchFamily="34" charset="0"/>
                <a:ea typeface="Arial" pitchFamily="34" charset="-122"/>
                <a:cs typeface="Arial" pitchFamily="34" charset="-120"/>
              </a:rPr>
              <a:t>Why can an AI system produce biased or discriminatory results?</a:t>
            </a:r>
            <a:endParaRPr lang="en-US" sz="1600" dirty="0"/>
          </a:p>
        </p:txBody>
      </p:sp>
      <p:sp>
        <p:nvSpPr>
          <p:cNvPr id="16" name="Text 14"/>
          <p:cNvSpPr txBox="1"/>
          <p:nvPr/>
        </p:nvSpPr>
        <p:spPr>
          <a:xfrm>
            <a:off x="1097280" y="4846320"/>
            <a:ext cx="4978908" cy="585216"/>
          </a:xfrm>
          <a:prstGeom prst="rect">
            <a:avLst/>
          </a:prstGeom>
          <a:noFill/>
          <a:ln/>
        </p:spPr>
        <p:txBody>
          <a:bodyPr wrap="square" lIns="0" tIns="0" rIns="0" bIns="0" rtlCol="0" anchor="ctr"/>
          <a:lstStyle/>
          <a:p>
            <a:pPr indent="0" marL="0">
              <a:lnSpc>
                <a:spcPct val="110000"/>
              </a:lnSpc>
              <a:buNone/>
            </a:pPr>
            <a:r>
              <a:rPr lang="en-US" sz="1350" b="1" dirty="0">
                <a:solidFill>
                  <a:srgbClr val="5EEAD4"/>
                </a:solidFill>
                <a:latin typeface="Calibri" pitchFamily="34" charset="0"/>
                <a:ea typeface="Calibri" pitchFamily="34" charset="-122"/>
                <a:cs typeface="Calibri" pitchFamily="34" charset="-120"/>
              </a:rPr>
              <a:t>A  </a:t>
            </a:r>
            <a:pPr indent="0" marL="0">
              <a:lnSpc>
                <a:spcPct val="110000"/>
              </a:lnSpc>
              <a:buNone/>
            </a:pPr>
            <a:r>
              <a:rPr lang="en-US" sz="1350" dirty="0">
                <a:solidFill>
                  <a:srgbClr val="A8B3CC"/>
                </a:solidFill>
                <a:latin typeface="Calibri" pitchFamily="34" charset="0"/>
                <a:ea typeface="Calibri" pitchFamily="34" charset="-122"/>
                <a:cs typeface="Calibri" pitchFamily="34" charset="-120"/>
              </a:rPr>
              <a:t>The machine develops personal opinions as it gets older</a:t>
            </a:r>
            <a:endParaRPr lang="en-US" sz="1350" dirty="0"/>
          </a:p>
        </p:txBody>
      </p:sp>
      <p:sp>
        <p:nvSpPr>
          <p:cNvPr id="17" name="Text 15"/>
          <p:cNvSpPr txBox="1"/>
          <p:nvPr/>
        </p:nvSpPr>
        <p:spPr>
          <a:xfrm>
            <a:off x="6295644" y="4846320"/>
            <a:ext cx="4978908" cy="585216"/>
          </a:xfrm>
          <a:prstGeom prst="rect">
            <a:avLst/>
          </a:prstGeom>
          <a:noFill/>
          <a:ln/>
        </p:spPr>
        <p:txBody>
          <a:bodyPr wrap="square" lIns="0" tIns="0" rIns="0" bIns="0" rtlCol="0" anchor="ctr"/>
          <a:lstStyle/>
          <a:p>
            <a:pPr indent="0" marL="0">
              <a:lnSpc>
                <a:spcPct val="110000"/>
              </a:lnSpc>
              <a:buNone/>
            </a:pPr>
            <a:r>
              <a:rPr lang="en-US" sz="1350" b="1" dirty="0">
                <a:solidFill>
                  <a:srgbClr val="5EEAD4"/>
                </a:solidFill>
                <a:latin typeface="Calibri" pitchFamily="34" charset="0"/>
                <a:ea typeface="Calibri" pitchFamily="34" charset="-122"/>
                <a:cs typeface="Calibri" pitchFamily="34" charset="-120"/>
              </a:rPr>
              <a:t>B  </a:t>
            </a:r>
            <a:pPr indent="0" marL="0">
              <a:lnSpc>
                <a:spcPct val="110000"/>
              </a:lnSpc>
              <a:buNone/>
            </a:pPr>
            <a:r>
              <a:rPr lang="en-US" sz="1350" dirty="0">
                <a:solidFill>
                  <a:srgbClr val="A8B3CC"/>
                </a:solidFill>
                <a:latin typeface="Calibri" pitchFamily="34" charset="0"/>
                <a:ea typeface="Calibri" pitchFamily="34" charset="-122"/>
                <a:cs typeface="Calibri" pitchFamily="34" charset="-120"/>
              </a:rPr>
              <a:t>It learns from historical data that already contains human prejudices</a:t>
            </a:r>
            <a:endParaRPr lang="en-US" sz="1350" dirty="0"/>
          </a:p>
        </p:txBody>
      </p:sp>
      <p:sp>
        <p:nvSpPr>
          <p:cNvPr id="18" name="Text 16"/>
          <p:cNvSpPr txBox="1"/>
          <p:nvPr/>
        </p:nvSpPr>
        <p:spPr>
          <a:xfrm>
            <a:off x="1097280" y="5486400"/>
            <a:ext cx="4978908" cy="585216"/>
          </a:xfrm>
          <a:prstGeom prst="rect">
            <a:avLst/>
          </a:prstGeom>
          <a:noFill/>
          <a:ln/>
        </p:spPr>
        <p:txBody>
          <a:bodyPr wrap="square" lIns="0" tIns="0" rIns="0" bIns="0" rtlCol="0" anchor="ctr"/>
          <a:lstStyle/>
          <a:p>
            <a:pPr indent="0" marL="0">
              <a:lnSpc>
                <a:spcPct val="110000"/>
              </a:lnSpc>
              <a:buNone/>
            </a:pPr>
            <a:r>
              <a:rPr lang="en-US" sz="1350" b="1" dirty="0">
                <a:solidFill>
                  <a:srgbClr val="5EEAD4"/>
                </a:solidFill>
                <a:latin typeface="Calibri" pitchFamily="34" charset="0"/>
                <a:ea typeface="Calibri" pitchFamily="34" charset="-122"/>
                <a:cs typeface="Calibri" pitchFamily="34" charset="-120"/>
              </a:rPr>
              <a:t>C  </a:t>
            </a:r>
            <a:pPr indent="0" marL="0">
              <a:lnSpc>
                <a:spcPct val="110000"/>
              </a:lnSpc>
              <a:buNone/>
            </a:pPr>
            <a:r>
              <a:rPr lang="en-US" sz="1350" dirty="0">
                <a:solidFill>
                  <a:srgbClr val="A8B3CC"/>
                </a:solidFill>
                <a:latin typeface="Calibri" pitchFamily="34" charset="0"/>
                <a:ea typeface="Calibri" pitchFamily="34" charset="-122"/>
                <a:cs typeface="Calibri" pitchFamily="34" charset="-120"/>
              </a:rPr>
              <a:t>Programmers deliberately code flaws to prevent it from becoming too smart</a:t>
            </a:r>
            <a:endParaRPr lang="en-US" sz="1350" dirty="0"/>
          </a:p>
        </p:txBody>
      </p:sp>
      <p:sp>
        <p:nvSpPr>
          <p:cNvPr id="19" name="Text 17"/>
          <p:cNvSpPr txBox="1"/>
          <p:nvPr/>
        </p:nvSpPr>
        <p:spPr>
          <a:xfrm>
            <a:off x="6295644" y="5486400"/>
            <a:ext cx="4978908" cy="585216"/>
          </a:xfrm>
          <a:prstGeom prst="rect">
            <a:avLst/>
          </a:prstGeom>
          <a:noFill/>
          <a:ln/>
        </p:spPr>
        <p:txBody>
          <a:bodyPr wrap="square" lIns="0" tIns="0" rIns="0" bIns="0" rtlCol="0" anchor="ctr"/>
          <a:lstStyle/>
          <a:p>
            <a:pPr indent="0" marL="0">
              <a:lnSpc>
                <a:spcPct val="110000"/>
              </a:lnSpc>
              <a:buNone/>
            </a:pPr>
            <a:r>
              <a:rPr lang="en-US" sz="1350" b="1" dirty="0">
                <a:solidFill>
                  <a:srgbClr val="5EEAD4"/>
                </a:solidFill>
                <a:latin typeface="Calibri" pitchFamily="34" charset="0"/>
                <a:ea typeface="Calibri" pitchFamily="34" charset="-122"/>
                <a:cs typeface="Calibri" pitchFamily="34" charset="-120"/>
              </a:rPr>
              <a:t>D  </a:t>
            </a:r>
            <a:pPr indent="0" marL="0">
              <a:lnSpc>
                <a:spcPct val="110000"/>
              </a:lnSpc>
              <a:buNone/>
            </a:pPr>
            <a:r>
              <a:rPr lang="en-US" sz="1350" dirty="0">
                <a:solidFill>
                  <a:srgbClr val="A8B3CC"/>
                </a:solidFill>
                <a:latin typeface="Calibri" pitchFamily="34" charset="0"/>
                <a:ea typeface="Calibri" pitchFamily="34" charset="-122"/>
                <a:cs typeface="Calibri" pitchFamily="34" charset="-120"/>
              </a:rPr>
              <a:t>It lacks access to internet connections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B16"/>
        </a:solidFill>
      </p:bgPr>
    </p:bg>
    <p:spTree>
      <p:nvGrpSpPr>
        <p:cNvPr id="1" name=""/>
        <p:cNvGrpSpPr/>
        <p:nvPr/>
      </p:nvGrpSpPr>
      <p:grpSpPr>
        <a:xfrm>
          <a:off x="0" y="0"/>
          <a:ext cx="0" cy="0"/>
          <a:chOff x="0" y="0"/>
          <a:chExt cx="0" cy="0"/>
        </a:xfrm>
      </p:grpSpPr>
      <p:sp>
        <p:nvSpPr>
          <p:cNvPr id="2" name="Text 0"/>
          <p:cNvSpPr txBox="1"/>
          <p:nvPr/>
        </p:nvSpPr>
        <p:spPr>
          <a:xfrm>
            <a:off x="548640" y="420624"/>
            <a:ext cx="11091672" cy="274320"/>
          </a:xfrm>
          <a:prstGeom prst="rect">
            <a:avLst/>
          </a:prstGeom>
          <a:noFill/>
          <a:ln/>
        </p:spPr>
        <p:txBody>
          <a:bodyPr wrap="square" lIns="0" tIns="0" rIns="0" bIns="0" rtlCol="0" anchor="ctr"/>
          <a:lstStyle/>
          <a:p>
            <a:pPr indent="0" marL="0">
              <a:buNone/>
            </a:pPr>
            <a:r>
              <a:rPr lang="en-US" sz="1200" b="1" spc="240" kern="0" dirty="0">
                <a:solidFill>
                  <a:srgbClr val="5EEAD4"/>
                </a:solidFill>
                <a:latin typeface="Calibri" pitchFamily="34" charset="0"/>
                <a:ea typeface="Calibri" pitchFamily="34" charset="-122"/>
                <a:cs typeface="Calibri" pitchFamily="34" charset="-120"/>
              </a:rPr>
              <a:t>KNOWLEDGE CHECK</a:t>
            </a:r>
            <a:endParaRPr lang="en-US" sz="1200" dirty="0"/>
          </a:p>
        </p:txBody>
      </p:sp>
      <p:sp>
        <p:nvSpPr>
          <p:cNvPr id="3" name="Text 1"/>
          <p:cNvSpPr txBox="1"/>
          <p:nvPr/>
        </p:nvSpPr>
        <p:spPr>
          <a:xfrm>
            <a:off x="548640" y="694944"/>
            <a:ext cx="11091672" cy="713232"/>
          </a:xfrm>
          <a:prstGeom prst="rect">
            <a:avLst/>
          </a:prstGeom>
          <a:noFill/>
          <a:ln/>
        </p:spPr>
        <p:txBody>
          <a:bodyPr wrap="square" lIns="0" tIns="0" rIns="0" bIns="0" rtlCol="0" anchor="ctr"/>
          <a:lstStyle/>
          <a:p>
            <a:pPr indent="0" marL="0">
              <a:buNone/>
            </a:pPr>
            <a:r>
              <a:rPr lang="en-US" sz="3400" b="1" dirty="0">
                <a:solidFill>
                  <a:srgbClr val="EEF2FB"/>
                </a:solidFill>
                <a:latin typeface="Arial" pitchFamily="34" charset="0"/>
                <a:ea typeface="Arial" pitchFamily="34" charset="-122"/>
                <a:cs typeface="Arial" pitchFamily="34" charset="-120"/>
              </a:rPr>
              <a:t>Answer Key</a:t>
            </a:r>
            <a:endParaRPr lang="en-US" sz="3400" dirty="0"/>
          </a:p>
        </p:txBody>
      </p:sp>
      <p:sp>
        <p:nvSpPr>
          <p:cNvPr id="4" name="Shape 2"/>
          <p:cNvSpPr/>
          <p:nvPr/>
        </p:nvSpPr>
        <p:spPr>
          <a:xfrm>
            <a:off x="548640" y="1682496"/>
            <a:ext cx="11091672" cy="1024128"/>
          </a:xfrm>
          <a:prstGeom prst="roundRect">
            <a:avLst>
              <a:gd name="adj" fmla="val 8929"/>
            </a:avLst>
          </a:prstGeom>
          <a:solidFill>
            <a:srgbClr val="121A33"/>
          </a:solidFill>
          <a:ln w="9525">
            <a:solidFill>
              <a:srgbClr val="4ADE80">
                <a:alpha val="38000"/>
              </a:srgbClr>
            </a:solidFill>
            <a:prstDash val="solid"/>
          </a:ln>
        </p:spPr>
      </p:sp>
      <p:sp>
        <p:nvSpPr>
          <p:cNvPr id="5" name="Text 3"/>
          <p:cNvSpPr txBox="1"/>
          <p:nvPr/>
        </p:nvSpPr>
        <p:spPr>
          <a:xfrm>
            <a:off x="859536" y="1682496"/>
            <a:ext cx="1417320" cy="1024128"/>
          </a:xfrm>
          <a:prstGeom prst="rect">
            <a:avLst/>
          </a:prstGeom>
          <a:noFill/>
          <a:ln/>
        </p:spPr>
        <p:txBody>
          <a:bodyPr wrap="square" lIns="0" tIns="0" rIns="0" bIns="0" rtlCol="0" anchor="ctr"/>
          <a:lstStyle/>
          <a:p>
            <a:pPr indent="0" marL="0">
              <a:buNone/>
            </a:pPr>
            <a:r>
              <a:rPr lang="en-US" sz="1300" dirty="0">
                <a:solidFill>
                  <a:srgbClr val="6B779A"/>
                </a:solidFill>
                <a:latin typeface="Calibri" pitchFamily="34" charset="0"/>
                <a:ea typeface="Calibri" pitchFamily="34" charset="-122"/>
                <a:cs typeface="Calibri" pitchFamily="34" charset="-120"/>
              </a:rPr>
              <a:t>Question 1</a:t>
            </a:r>
            <a:endParaRPr lang="en-US" sz="1300" dirty="0"/>
          </a:p>
        </p:txBody>
      </p:sp>
      <p:sp>
        <p:nvSpPr>
          <p:cNvPr id="6" name="Shape 4"/>
          <p:cNvSpPr/>
          <p:nvPr/>
        </p:nvSpPr>
        <p:spPr>
          <a:xfrm>
            <a:off x="2331720" y="1920240"/>
            <a:ext cx="548640" cy="548640"/>
          </a:xfrm>
          <a:prstGeom prst="ellipse">
            <a:avLst/>
          </a:prstGeom>
          <a:solidFill>
            <a:srgbClr val="4ADE80">
              <a:alpha val="20000"/>
            </a:srgbClr>
          </a:solidFill>
          <a:ln w="15875">
            <a:solidFill>
              <a:srgbClr val="4ADE80">
                <a:alpha val="70000"/>
              </a:srgbClr>
            </a:solidFill>
            <a:prstDash val="solid"/>
          </a:ln>
        </p:spPr>
      </p:sp>
      <p:sp>
        <p:nvSpPr>
          <p:cNvPr id="7" name="Text 5"/>
          <p:cNvSpPr txBox="1"/>
          <p:nvPr/>
        </p:nvSpPr>
        <p:spPr>
          <a:xfrm>
            <a:off x="2331720" y="1920240"/>
            <a:ext cx="548640" cy="548640"/>
          </a:xfrm>
          <a:prstGeom prst="rect">
            <a:avLst/>
          </a:prstGeom>
          <a:noFill/>
          <a:ln/>
        </p:spPr>
        <p:txBody>
          <a:bodyPr wrap="square" lIns="0" tIns="0" rIns="0" bIns="0" rtlCol="0" anchor="ctr"/>
          <a:lstStyle/>
          <a:p>
            <a:pPr algn="ctr" indent="0" marL="0">
              <a:buNone/>
            </a:pPr>
            <a:r>
              <a:rPr lang="en-US" sz="2000" b="1" dirty="0">
                <a:solidFill>
                  <a:srgbClr val="4ADE80"/>
                </a:solidFill>
                <a:latin typeface="Arial" pitchFamily="34" charset="0"/>
                <a:ea typeface="Arial" pitchFamily="34" charset="-122"/>
                <a:cs typeface="Arial" pitchFamily="34" charset="-120"/>
              </a:rPr>
              <a:t>B</a:t>
            </a:r>
            <a:endParaRPr lang="en-US" sz="2000" dirty="0"/>
          </a:p>
        </p:txBody>
      </p:sp>
      <p:sp>
        <p:nvSpPr>
          <p:cNvPr id="8" name="Text 6"/>
          <p:cNvSpPr txBox="1"/>
          <p:nvPr/>
        </p:nvSpPr>
        <p:spPr>
          <a:xfrm>
            <a:off x="3090672" y="1682496"/>
            <a:ext cx="8165592" cy="1024128"/>
          </a:xfrm>
          <a:prstGeom prst="rect">
            <a:avLst/>
          </a:prstGeom>
          <a:noFill/>
          <a:ln/>
        </p:spPr>
        <p:txBody>
          <a:bodyPr wrap="square" lIns="0" tIns="0" rIns="0" bIns="0" rtlCol="0" anchor="ctr"/>
          <a:lstStyle/>
          <a:p>
            <a:pPr indent="0" marL="0">
              <a:lnSpc>
                <a:spcPct val="115000"/>
              </a:lnSpc>
              <a:buNone/>
            </a:pPr>
            <a:r>
              <a:rPr lang="en-US" sz="1450" dirty="0">
                <a:solidFill>
                  <a:srgbClr val="EEF2FB"/>
                </a:solidFill>
                <a:latin typeface="Calibri" pitchFamily="34" charset="0"/>
                <a:ea typeface="Calibri" pitchFamily="34" charset="-122"/>
                <a:cs typeface="Calibri" pitchFamily="34" charset="-120"/>
              </a:rPr>
              <a:t>Traditional software follows rigid, pre-written rules, while AI finds patterns from examples.</a:t>
            </a:r>
            <a:endParaRPr lang="en-US" sz="1450" dirty="0"/>
          </a:p>
        </p:txBody>
      </p:sp>
      <p:sp>
        <p:nvSpPr>
          <p:cNvPr id="9" name="Shape 7"/>
          <p:cNvSpPr/>
          <p:nvPr/>
        </p:nvSpPr>
        <p:spPr>
          <a:xfrm>
            <a:off x="548640" y="2871216"/>
            <a:ext cx="11091672" cy="1024128"/>
          </a:xfrm>
          <a:prstGeom prst="roundRect">
            <a:avLst>
              <a:gd name="adj" fmla="val 8929"/>
            </a:avLst>
          </a:prstGeom>
          <a:solidFill>
            <a:srgbClr val="121A33"/>
          </a:solidFill>
          <a:ln w="9525">
            <a:solidFill>
              <a:srgbClr val="4ADE80">
                <a:alpha val="38000"/>
              </a:srgbClr>
            </a:solidFill>
            <a:prstDash val="solid"/>
          </a:ln>
        </p:spPr>
      </p:sp>
      <p:sp>
        <p:nvSpPr>
          <p:cNvPr id="10" name="Text 8"/>
          <p:cNvSpPr txBox="1"/>
          <p:nvPr/>
        </p:nvSpPr>
        <p:spPr>
          <a:xfrm>
            <a:off x="859536" y="2871216"/>
            <a:ext cx="1417320" cy="1024128"/>
          </a:xfrm>
          <a:prstGeom prst="rect">
            <a:avLst/>
          </a:prstGeom>
          <a:noFill/>
          <a:ln/>
        </p:spPr>
        <p:txBody>
          <a:bodyPr wrap="square" lIns="0" tIns="0" rIns="0" bIns="0" rtlCol="0" anchor="ctr"/>
          <a:lstStyle/>
          <a:p>
            <a:pPr indent="0" marL="0">
              <a:buNone/>
            </a:pPr>
            <a:r>
              <a:rPr lang="en-US" sz="1300" dirty="0">
                <a:solidFill>
                  <a:srgbClr val="6B779A"/>
                </a:solidFill>
                <a:latin typeface="Calibri" pitchFamily="34" charset="0"/>
                <a:ea typeface="Calibri" pitchFamily="34" charset="-122"/>
                <a:cs typeface="Calibri" pitchFamily="34" charset="-120"/>
              </a:rPr>
              <a:t>Question 2</a:t>
            </a:r>
            <a:endParaRPr lang="en-US" sz="1300" dirty="0"/>
          </a:p>
        </p:txBody>
      </p:sp>
      <p:sp>
        <p:nvSpPr>
          <p:cNvPr id="11" name="Shape 9"/>
          <p:cNvSpPr/>
          <p:nvPr/>
        </p:nvSpPr>
        <p:spPr>
          <a:xfrm>
            <a:off x="2331720" y="3108960"/>
            <a:ext cx="548640" cy="548640"/>
          </a:xfrm>
          <a:prstGeom prst="ellipse">
            <a:avLst/>
          </a:prstGeom>
          <a:solidFill>
            <a:srgbClr val="4ADE80">
              <a:alpha val="20000"/>
            </a:srgbClr>
          </a:solidFill>
          <a:ln w="15875">
            <a:solidFill>
              <a:srgbClr val="4ADE80">
                <a:alpha val="70000"/>
              </a:srgbClr>
            </a:solidFill>
            <a:prstDash val="solid"/>
          </a:ln>
        </p:spPr>
      </p:sp>
      <p:sp>
        <p:nvSpPr>
          <p:cNvPr id="12" name="Text 10"/>
          <p:cNvSpPr txBox="1"/>
          <p:nvPr/>
        </p:nvSpPr>
        <p:spPr>
          <a:xfrm>
            <a:off x="2331720" y="3108960"/>
            <a:ext cx="548640" cy="548640"/>
          </a:xfrm>
          <a:prstGeom prst="rect">
            <a:avLst/>
          </a:prstGeom>
          <a:noFill/>
          <a:ln/>
        </p:spPr>
        <p:txBody>
          <a:bodyPr wrap="square" lIns="0" tIns="0" rIns="0" bIns="0" rtlCol="0" anchor="ctr"/>
          <a:lstStyle/>
          <a:p>
            <a:pPr algn="ctr" indent="0" marL="0">
              <a:buNone/>
            </a:pPr>
            <a:r>
              <a:rPr lang="en-US" sz="2000" b="1" dirty="0">
                <a:solidFill>
                  <a:srgbClr val="4ADE80"/>
                </a:solidFill>
                <a:latin typeface="Arial" pitchFamily="34" charset="0"/>
                <a:ea typeface="Arial" pitchFamily="34" charset="-122"/>
                <a:cs typeface="Arial" pitchFamily="34" charset="-120"/>
              </a:rPr>
              <a:t>B</a:t>
            </a:r>
            <a:endParaRPr lang="en-US" sz="2000" dirty="0"/>
          </a:p>
        </p:txBody>
      </p:sp>
      <p:sp>
        <p:nvSpPr>
          <p:cNvPr id="13" name="Text 11"/>
          <p:cNvSpPr txBox="1"/>
          <p:nvPr/>
        </p:nvSpPr>
        <p:spPr>
          <a:xfrm>
            <a:off x="3090672" y="2871216"/>
            <a:ext cx="8165592" cy="1024128"/>
          </a:xfrm>
          <a:prstGeom prst="rect">
            <a:avLst/>
          </a:prstGeom>
          <a:noFill/>
          <a:ln/>
        </p:spPr>
        <p:txBody>
          <a:bodyPr wrap="square" lIns="0" tIns="0" rIns="0" bIns="0" rtlCol="0" anchor="ctr"/>
          <a:lstStyle/>
          <a:p>
            <a:pPr indent="0" marL="0">
              <a:lnSpc>
                <a:spcPct val="115000"/>
              </a:lnSpc>
              <a:buNone/>
            </a:pPr>
            <a:r>
              <a:rPr lang="en-US" sz="1450" dirty="0">
                <a:solidFill>
                  <a:srgbClr val="EEF2FB"/>
                </a:solidFill>
                <a:latin typeface="Calibri" pitchFamily="34" charset="0"/>
                <a:ea typeface="Calibri" pitchFamily="34" charset="-122"/>
                <a:cs typeface="Calibri" pitchFamily="34" charset="-120"/>
              </a:rPr>
              <a:t>Rapid cycles of guessing, feedback, and adjustment using large datasets.</a:t>
            </a:r>
            <a:endParaRPr lang="en-US" sz="1450" dirty="0"/>
          </a:p>
        </p:txBody>
      </p:sp>
      <p:sp>
        <p:nvSpPr>
          <p:cNvPr id="14" name="Shape 12"/>
          <p:cNvSpPr/>
          <p:nvPr/>
        </p:nvSpPr>
        <p:spPr>
          <a:xfrm>
            <a:off x="548640" y="4059936"/>
            <a:ext cx="11091672" cy="1024128"/>
          </a:xfrm>
          <a:prstGeom prst="roundRect">
            <a:avLst>
              <a:gd name="adj" fmla="val 8929"/>
            </a:avLst>
          </a:prstGeom>
          <a:solidFill>
            <a:srgbClr val="121A33"/>
          </a:solidFill>
          <a:ln w="9525">
            <a:solidFill>
              <a:srgbClr val="4ADE80">
                <a:alpha val="38000"/>
              </a:srgbClr>
            </a:solidFill>
            <a:prstDash val="solid"/>
          </a:ln>
        </p:spPr>
      </p:sp>
      <p:sp>
        <p:nvSpPr>
          <p:cNvPr id="15" name="Text 13"/>
          <p:cNvSpPr txBox="1"/>
          <p:nvPr/>
        </p:nvSpPr>
        <p:spPr>
          <a:xfrm>
            <a:off x="859536" y="4059936"/>
            <a:ext cx="1417320" cy="1024128"/>
          </a:xfrm>
          <a:prstGeom prst="rect">
            <a:avLst/>
          </a:prstGeom>
          <a:noFill/>
          <a:ln/>
        </p:spPr>
        <p:txBody>
          <a:bodyPr wrap="square" lIns="0" tIns="0" rIns="0" bIns="0" rtlCol="0" anchor="ctr"/>
          <a:lstStyle/>
          <a:p>
            <a:pPr indent="0" marL="0">
              <a:buNone/>
            </a:pPr>
            <a:r>
              <a:rPr lang="en-US" sz="1300" dirty="0">
                <a:solidFill>
                  <a:srgbClr val="6B779A"/>
                </a:solidFill>
                <a:latin typeface="Calibri" pitchFamily="34" charset="0"/>
                <a:ea typeface="Calibri" pitchFamily="34" charset="-122"/>
                <a:cs typeface="Calibri" pitchFamily="34" charset="-120"/>
              </a:rPr>
              <a:t>Question 3</a:t>
            </a:r>
            <a:endParaRPr lang="en-US" sz="1300" dirty="0"/>
          </a:p>
        </p:txBody>
      </p:sp>
      <p:sp>
        <p:nvSpPr>
          <p:cNvPr id="16" name="Shape 14"/>
          <p:cNvSpPr/>
          <p:nvPr/>
        </p:nvSpPr>
        <p:spPr>
          <a:xfrm>
            <a:off x="2331720" y="4297680"/>
            <a:ext cx="548640" cy="548640"/>
          </a:xfrm>
          <a:prstGeom prst="ellipse">
            <a:avLst/>
          </a:prstGeom>
          <a:solidFill>
            <a:srgbClr val="4ADE80">
              <a:alpha val="20000"/>
            </a:srgbClr>
          </a:solidFill>
          <a:ln w="15875">
            <a:solidFill>
              <a:srgbClr val="4ADE80">
                <a:alpha val="70000"/>
              </a:srgbClr>
            </a:solidFill>
            <a:prstDash val="solid"/>
          </a:ln>
        </p:spPr>
      </p:sp>
      <p:sp>
        <p:nvSpPr>
          <p:cNvPr id="17" name="Text 15"/>
          <p:cNvSpPr txBox="1"/>
          <p:nvPr/>
        </p:nvSpPr>
        <p:spPr>
          <a:xfrm>
            <a:off x="2331720" y="4297680"/>
            <a:ext cx="548640" cy="548640"/>
          </a:xfrm>
          <a:prstGeom prst="rect">
            <a:avLst/>
          </a:prstGeom>
          <a:noFill/>
          <a:ln/>
        </p:spPr>
        <p:txBody>
          <a:bodyPr wrap="square" lIns="0" tIns="0" rIns="0" bIns="0" rtlCol="0" anchor="ctr"/>
          <a:lstStyle/>
          <a:p>
            <a:pPr algn="ctr" indent="0" marL="0">
              <a:buNone/>
            </a:pPr>
            <a:r>
              <a:rPr lang="en-US" sz="2000" b="1" dirty="0">
                <a:solidFill>
                  <a:srgbClr val="4ADE80"/>
                </a:solidFill>
                <a:latin typeface="Arial" pitchFamily="34" charset="0"/>
                <a:ea typeface="Arial" pitchFamily="34" charset="-122"/>
                <a:cs typeface="Arial" pitchFamily="34" charset="-120"/>
              </a:rPr>
              <a:t>C</a:t>
            </a:r>
            <a:endParaRPr lang="en-US" sz="2000" dirty="0"/>
          </a:p>
        </p:txBody>
      </p:sp>
      <p:sp>
        <p:nvSpPr>
          <p:cNvPr id="18" name="Text 16"/>
          <p:cNvSpPr txBox="1"/>
          <p:nvPr/>
        </p:nvSpPr>
        <p:spPr>
          <a:xfrm>
            <a:off x="3090672" y="4059936"/>
            <a:ext cx="8165592" cy="1024128"/>
          </a:xfrm>
          <a:prstGeom prst="rect">
            <a:avLst/>
          </a:prstGeom>
          <a:noFill/>
          <a:ln/>
        </p:spPr>
        <p:txBody>
          <a:bodyPr wrap="square" lIns="0" tIns="0" rIns="0" bIns="0" rtlCol="0" anchor="ctr"/>
          <a:lstStyle/>
          <a:p>
            <a:pPr indent="0" marL="0">
              <a:lnSpc>
                <a:spcPct val="115000"/>
              </a:lnSpc>
              <a:buNone/>
            </a:pPr>
            <a:r>
              <a:rPr lang="en-US" sz="1450" dirty="0">
                <a:solidFill>
                  <a:srgbClr val="EEF2FB"/>
                </a:solidFill>
                <a:latin typeface="Calibri" pitchFamily="34" charset="0"/>
                <a:ea typeface="Calibri" pitchFamily="34" charset="-122"/>
                <a:cs typeface="Calibri" pitchFamily="34" charset="-120"/>
              </a:rPr>
              <a:t>Handling heavy, repetitive data analysis so people can make faster decisions.</a:t>
            </a:r>
            <a:endParaRPr lang="en-US" sz="1450" dirty="0"/>
          </a:p>
        </p:txBody>
      </p:sp>
      <p:sp>
        <p:nvSpPr>
          <p:cNvPr id="19" name="Shape 17"/>
          <p:cNvSpPr/>
          <p:nvPr/>
        </p:nvSpPr>
        <p:spPr>
          <a:xfrm>
            <a:off x="548640" y="5248656"/>
            <a:ext cx="11091672" cy="1024128"/>
          </a:xfrm>
          <a:prstGeom prst="roundRect">
            <a:avLst>
              <a:gd name="adj" fmla="val 8929"/>
            </a:avLst>
          </a:prstGeom>
          <a:solidFill>
            <a:srgbClr val="121A33"/>
          </a:solidFill>
          <a:ln w="9525">
            <a:solidFill>
              <a:srgbClr val="4ADE80">
                <a:alpha val="38000"/>
              </a:srgbClr>
            </a:solidFill>
            <a:prstDash val="solid"/>
          </a:ln>
        </p:spPr>
      </p:sp>
      <p:sp>
        <p:nvSpPr>
          <p:cNvPr id="20" name="Text 18"/>
          <p:cNvSpPr txBox="1"/>
          <p:nvPr/>
        </p:nvSpPr>
        <p:spPr>
          <a:xfrm>
            <a:off x="859536" y="5248656"/>
            <a:ext cx="1417320" cy="1024128"/>
          </a:xfrm>
          <a:prstGeom prst="rect">
            <a:avLst/>
          </a:prstGeom>
          <a:noFill/>
          <a:ln/>
        </p:spPr>
        <p:txBody>
          <a:bodyPr wrap="square" lIns="0" tIns="0" rIns="0" bIns="0" rtlCol="0" anchor="ctr"/>
          <a:lstStyle/>
          <a:p>
            <a:pPr indent="0" marL="0">
              <a:buNone/>
            </a:pPr>
            <a:r>
              <a:rPr lang="en-US" sz="1300" dirty="0">
                <a:solidFill>
                  <a:srgbClr val="6B779A"/>
                </a:solidFill>
                <a:latin typeface="Calibri" pitchFamily="34" charset="0"/>
                <a:ea typeface="Calibri" pitchFamily="34" charset="-122"/>
                <a:cs typeface="Calibri" pitchFamily="34" charset="-120"/>
              </a:rPr>
              <a:t>Question 4</a:t>
            </a:r>
            <a:endParaRPr lang="en-US" sz="1300" dirty="0"/>
          </a:p>
        </p:txBody>
      </p:sp>
      <p:sp>
        <p:nvSpPr>
          <p:cNvPr id="21" name="Shape 19"/>
          <p:cNvSpPr/>
          <p:nvPr/>
        </p:nvSpPr>
        <p:spPr>
          <a:xfrm>
            <a:off x="2331720" y="5486400"/>
            <a:ext cx="548640" cy="548640"/>
          </a:xfrm>
          <a:prstGeom prst="ellipse">
            <a:avLst/>
          </a:prstGeom>
          <a:solidFill>
            <a:srgbClr val="4ADE80">
              <a:alpha val="20000"/>
            </a:srgbClr>
          </a:solidFill>
          <a:ln w="15875">
            <a:solidFill>
              <a:srgbClr val="4ADE80">
                <a:alpha val="70000"/>
              </a:srgbClr>
            </a:solidFill>
            <a:prstDash val="solid"/>
          </a:ln>
        </p:spPr>
      </p:sp>
      <p:sp>
        <p:nvSpPr>
          <p:cNvPr id="22" name="Text 20"/>
          <p:cNvSpPr txBox="1"/>
          <p:nvPr/>
        </p:nvSpPr>
        <p:spPr>
          <a:xfrm>
            <a:off x="2331720" y="5486400"/>
            <a:ext cx="548640" cy="548640"/>
          </a:xfrm>
          <a:prstGeom prst="rect">
            <a:avLst/>
          </a:prstGeom>
          <a:noFill/>
          <a:ln/>
        </p:spPr>
        <p:txBody>
          <a:bodyPr wrap="square" lIns="0" tIns="0" rIns="0" bIns="0" rtlCol="0" anchor="ctr"/>
          <a:lstStyle/>
          <a:p>
            <a:pPr algn="ctr" indent="0" marL="0">
              <a:buNone/>
            </a:pPr>
            <a:r>
              <a:rPr lang="en-US" sz="2000" b="1" dirty="0">
                <a:solidFill>
                  <a:srgbClr val="4ADE80"/>
                </a:solidFill>
                <a:latin typeface="Arial" pitchFamily="34" charset="0"/>
                <a:ea typeface="Arial" pitchFamily="34" charset="-122"/>
                <a:cs typeface="Arial" pitchFamily="34" charset="-120"/>
              </a:rPr>
              <a:t>B</a:t>
            </a:r>
            <a:endParaRPr lang="en-US" sz="2000" dirty="0"/>
          </a:p>
        </p:txBody>
      </p:sp>
      <p:sp>
        <p:nvSpPr>
          <p:cNvPr id="23" name="Text 21"/>
          <p:cNvSpPr txBox="1"/>
          <p:nvPr/>
        </p:nvSpPr>
        <p:spPr>
          <a:xfrm>
            <a:off x="3090672" y="5248656"/>
            <a:ext cx="8165592" cy="1024128"/>
          </a:xfrm>
          <a:prstGeom prst="rect">
            <a:avLst/>
          </a:prstGeom>
          <a:noFill/>
          <a:ln/>
        </p:spPr>
        <p:txBody>
          <a:bodyPr wrap="square" lIns="0" tIns="0" rIns="0" bIns="0" rtlCol="0" anchor="ctr"/>
          <a:lstStyle/>
          <a:p>
            <a:pPr indent="0" marL="0">
              <a:lnSpc>
                <a:spcPct val="115000"/>
              </a:lnSpc>
              <a:buNone/>
            </a:pPr>
            <a:r>
              <a:rPr lang="en-US" sz="1450" dirty="0">
                <a:solidFill>
                  <a:srgbClr val="EEF2FB"/>
                </a:solidFill>
                <a:latin typeface="Calibri" pitchFamily="34" charset="0"/>
                <a:ea typeface="Calibri" pitchFamily="34" charset="-122"/>
                <a:cs typeface="Calibri" pitchFamily="34" charset="-120"/>
              </a:rPr>
              <a:t>It learns from historical data that already contains human prejudices.</a:t>
            </a:r>
            <a:endParaRPr lang="en-US" sz="1450" dirty="0"/>
          </a:p>
        </p:txBody>
      </p:sp>
      <p:sp>
        <p:nvSpPr>
          <p:cNvPr id="24" name="Text 22"/>
          <p:cNvSpPr txBox="1"/>
          <p:nvPr/>
        </p:nvSpPr>
        <p:spPr>
          <a:xfrm>
            <a:off x="548640" y="6327648"/>
            <a:ext cx="11091672" cy="310896"/>
          </a:xfrm>
          <a:prstGeom prst="rect">
            <a:avLst/>
          </a:prstGeom>
          <a:noFill/>
          <a:ln/>
        </p:spPr>
        <p:txBody>
          <a:bodyPr wrap="square" lIns="0" tIns="0" rIns="0" bIns="0" rtlCol="0" anchor="ctr"/>
          <a:lstStyle/>
          <a:p>
            <a:pPr indent="0" marL="0">
              <a:buNone/>
            </a:pPr>
            <a:r>
              <a:rPr lang="en-US" sz="1400" i="1" dirty="0">
                <a:solidFill>
                  <a:srgbClr val="5EEAD4"/>
                </a:solidFill>
                <a:latin typeface="Calibri" pitchFamily="34" charset="0"/>
                <a:ea typeface="Calibri" pitchFamily="34" charset="-122"/>
                <a:cs typeface="Calibri" pitchFamily="34" charset="-120"/>
              </a:rPr>
              <a:t>Thank you —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Artificial Intelligence</dc:title>
  <dc:subject>PptxGenJS Presentation</dc:subject>
  <dc:creator>Understanding Artificial Intelligence</dc:creator>
  <cp:lastModifiedBy>Understanding Artificial Intelligence</cp:lastModifiedBy>
  <cp:revision>1</cp:revision>
  <dcterms:created xsi:type="dcterms:W3CDTF">2026-09-24T10:20:17Z</dcterms:created>
  <dcterms:modified xsi:type="dcterms:W3CDTF">2026-09-24T10:20:17Z</dcterms:modified>
</cp:coreProperties>
</file>